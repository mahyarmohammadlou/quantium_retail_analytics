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bold r:id="rId19"/>
      <p:italic r:id="rId20"/>
      <p:boldItalic r:id="rId21"/>
    </p:embeddedFont>
    <p:embeddedFont>
      <p:font typeface="Roboto Medium"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about:blank"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6" name="Google Shape;6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5"/>
              </a:buClr>
              <a:buSzPts val="1200"/>
              <a:buFont typeface="Roboto Light"/>
              <a:buNone/>
            </a:pPr>
            <a:r>
              <a:rPr lang="en-AU" sz="1200" dirty="0">
                <a:solidFill>
                  <a:srgbClr val="000005"/>
                </a:solidFill>
                <a:latin typeface="Roboto Light"/>
                <a:ea typeface="Roboto Light"/>
                <a:cs typeface="Roboto Light"/>
                <a:sym typeface="Roboto Light"/>
              </a:rPr>
              <a:t>To view Privacy video explaining how important data privacy is to Quantium, please click here: </a:t>
            </a:r>
            <a:r>
              <a:rPr lang="en-AU" sz="1200" u="sng" dirty="0">
                <a:solidFill>
                  <a:schemeClr val="hlink"/>
                </a:solidFill>
                <a:latin typeface="Roboto Light"/>
                <a:ea typeface="Roboto Light"/>
                <a:cs typeface="Roboto Light"/>
                <a:sym typeface="Roboto Light"/>
                <a:hlinkClick r:id="rId3"/>
              </a:rPr>
              <a:t>https://www.youtube.com/watch?v=Zq1QDAkoRzU</a:t>
            </a:r>
            <a:endParaRPr sz="1200" dirty="0">
              <a:solidFill>
                <a:srgbClr val="000005"/>
              </a:solidFill>
              <a:latin typeface="Roboto Light"/>
              <a:ea typeface="Roboto Light"/>
              <a:cs typeface="Roboto Light"/>
              <a:sym typeface="Roboto Light"/>
            </a:endParaRPr>
          </a:p>
          <a:p>
            <a:pPr marL="0" marR="0" lvl="0" indent="0" algn="l" rtl="0">
              <a:lnSpc>
                <a:spcPct val="100000"/>
              </a:lnSpc>
              <a:spcBef>
                <a:spcPts val="0"/>
              </a:spcBef>
              <a:spcAft>
                <a:spcPts val="0"/>
              </a:spcAft>
              <a:buClr>
                <a:srgbClr val="000005"/>
              </a:buClr>
              <a:buSzPts val="1200"/>
              <a:buFont typeface="Roboto Light"/>
              <a:buNone/>
            </a:pPr>
            <a:r>
              <a:rPr lang="en-AU" sz="1200" dirty="0">
                <a:solidFill>
                  <a:srgbClr val="000005"/>
                </a:solidFill>
                <a:latin typeface="Roboto Light"/>
                <a:ea typeface="Roboto Light"/>
                <a:cs typeface="Roboto Light"/>
                <a:sym typeface="Roboto Light"/>
              </a:rPr>
              <a:t>or here </a:t>
            </a:r>
            <a:r>
              <a:rPr lang="en-AU" sz="1200" u="sng" dirty="0">
                <a:solidFill>
                  <a:schemeClr val="hlink"/>
                </a:solidFill>
                <a:latin typeface="Roboto Light"/>
                <a:ea typeface="Roboto Light"/>
                <a:cs typeface="Roboto Light"/>
                <a:sym typeface="Roboto Light"/>
                <a:hlinkClick r:id="rId4"/>
              </a:rPr>
              <a:t>Q:\Company Reference\Brand &amp; Design\Brand videos\Q Privacy.mp4</a:t>
            </a:r>
            <a:endParaRPr sz="1200" dirty="0">
              <a:solidFill>
                <a:srgbClr val="000005"/>
              </a:solidFill>
              <a:latin typeface="Roboto Light"/>
              <a:ea typeface="Roboto Light"/>
              <a:cs typeface="Roboto Light"/>
              <a:sym typeface="Roboto Light"/>
            </a:endParaRPr>
          </a:p>
          <a:p>
            <a:pPr marL="0" lvl="0" indent="0" algn="l" rtl="0">
              <a:spcBef>
                <a:spcPts val="0"/>
              </a:spcBef>
              <a:spcAft>
                <a:spcPts val="0"/>
              </a:spcAft>
              <a:buNone/>
            </a:pPr>
            <a:endParaRPr sz="1200" i="0" dirty="0">
              <a:solidFill>
                <a:schemeClr val="dk1"/>
              </a:solidFill>
              <a:latin typeface="Calibri"/>
              <a:ea typeface="Calibri"/>
              <a:cs typeface="Calibri"/>
              <a:sym typeface="Calibri"/>
            </a:endParaRPr>
          </a:p>
          <a:p>
            <a:pPr marL="0" lvl="0" indent="0" algn="l" rtl="0">
              <a:spcBef>
                <a:spcPts val="0"/>
              </a:spcBef>
              <a:spcAft>
                <a:spcPts val="0"/>
              </a:spcAft>
              <a:buNone/>
            </a:pPr>
            <a:r>
              <a:rPr lang="en-AU" sz="1200" i="0" dirty="0">
                <a:solidFill>
                  <a:schemeClr val="dk1"/>
                </a:solidFill>
                <a:latin typeface="Calibri"/>
                <a:ea typeface="Calibri"/>
                <a:cs typeface="Calibri"/>
                <a:sym typeface="Calibri"/>
              </a:rPr>
              <a:t>At Quantium, we believe that data is the behavioural footprint of humanity and that it has to be treated with the utmost care and responsibility. </a:t>
            </a:r>
            <a:endParaRPr dirty="0"/>
          </a:p>
          <a:p>
            <a:pPr marL="0" lvl="0" indent="0" algn="l" rtl="0">
              <a:spcBef>
                <a:spcPts val="0"/>
              </a:spcBef>
              <a:spcAft>
                <a:spcPts val="0"/>
              </a:spcAft>
              <a:buNone/>
            </a:pPr>
            <a:r>
              <a:rPr lang="en-AU" sz="1200" i="0" dirty="0">
                <a:solidFill>
                  <a:schemeClr val="dk1"/>
                </a:solidFill>
                <a:latin typeface="Calibri"/>
                <a:ea typeface="Calibri"/>
                <a:cs typeface="Calibri"/>
                <a:sym typeface="Calibri"/>
              </a:rPr>
              <a:t>Histories, attitudes, indeed lives are stored within it in ways that aren’t always apparent – and that’s what makes its potential so powerful. </a:t>
            </a:r>
            <a:endParaRPr dirty="0"/>
          </a:p>
          <a:p>
            <a:pPr marL="0" lvl="0" indent="0" algn="l" rtl="0">
              <a:spcBef>
                <a:spcPts val="0"/>
              </a:spcBef>
              <a:spcAft>
                <a:spcPts val="0"/>
              </a:spcAft>
              <a:buNone/>
            </a:pPr>
            <a:endParaRPr sz="1200" i="0" dirty="0">
              <a:solidFill>
                <a:schemeClr val="dk1"/>
              </a:solidFill>
              <a:latin typeface="Calibri"/>
              <a:ea typeface="Calibri"/>
              <a:cs typeface="Calibri"/>
              <a:sym typeface="Calibri"/>
            </a:endParaRPr>
          </a:p>
          <a:p>
            <a:pPr marL="0" lvl="0" indent="0" algn="l" rtl="0">
              <a:spcBef>
                <a:spcPts val="0"/>
              </a:spcBef>
              <a:spcAft>
                <a:spcPts val="0"/>
              </a:spcAft>
              <a:buNone/>
            </a:pPr>
            <a:r>
              <a:rPr lang="en-AU" sz="1200" i="0" dirty="0">
                <a:solidFill>
                  <a:schemeClr val="dk1"/>
                </a:solidFill>
                <a:latin typeface="Calibri"/>
                <a:ea typeface="Calibri"/>
                <a:cs typeface="Calibri"/>
                <a:sym typeface="Calibri"/>
              </a:rPr>
              <a:t>To work with it responsibly, sensitively, we set ourselves the highest data privacy protection and governance standards. </a:t>
            </a:r>
            <a:endParaRPr dirty="0"/>
          </a:p>
          <a:p>
            <a:pPr marL="0" lvl="0" indent="0" algn="l" rtl="0">
              <a:spcBef>
                <a:spcPts val="0"/>
              </a:spcBef>
              <a:spcAft>
                <a:spcPts val="0"/>
              </a:spcAft>
              <a:buNone/>
            </a:pPr>
            <a:r>
              <a:rPr lang="en-AU" sz="1200" i="0" dirty="0">
                <a:solidFill>
                  <a:schemeClr val="dk1"/>
                </a:solidFill>
                <a:latin typeface="Calibri"/>
                <a:ea typeface="Calibri"/>
                <a:cs typeface="Calibri"/>
                <a:sym typeface="Calibri"/>
              </a:rPr>
              <a:t>We have spent 17 years perfecting privacy-by-design and secure-by-design principles. Central to this is not holding any personally identifiable information about people – </a:t>
            </a:r>
            <a:endParaRPr dirty="0"/>
          </a:p>
          <a:p>
            <a:pPr marL="0" lvl="0" indent="0" algn="l" rtl="0">
              <a:spcBef>
                <a:spcPts val="0"/>
              </a:spcBef>
              <a:spcAft>
                <a:spcPts val="0"/>
              </a:spcAft>
              <a:buNone/>
            </a:pPr>
            <a:r>
              <a:rPr lang="en-AU" sz="1200" i="0" dirty="0">
                <a:solidFill>
                  <a:schemeClr val="dk1"/>
                </a:solidFill>
                <a:latin typeface="Calibri"/>
                <a:ea typeface="Calibri"/>
                <a:cs typeface="Calibri"/>
                <a:sym typeface="Calibri"/>
              </a:rPr>
              <a:t>we neither receive it, and put the necessary protections in place to be unable to decipher it. </a:t>
            </a:r>
            <a:endParaRPr dirty="0"/>
          </a:p>
          <a:p>
            <a:pPr marL="0" lvl="0" indent="0" algn="l" rtl="0">
              <a:spcBef>
                <a:spcPts val="0"/>
              </a:spcBef>
              <a:spcAft>
                <a:spcPts val="0"/>
              </a:spcAft>
              <a:buNone/>
            </a:pPr>
            <a:endParaRPr sz="1200" i="0" dirty="0">
              <a:solidFill>
                <a:schemeClr val="dk1"/>
              </a:solidFill>
              <a:latin typeface="Calibri"/>
              <a:ea typeface="Calibri"/>
              <a:cs typeface="Calibri"/>
              <a:sym typeface="Calibri"/>
            </a:endParaRPr>
          </a:p>
          <a:p>
            <a:pPr marL="0" lvl="0" indent="0" algn="l" rtl="0">
              <a:spcBef>
                <a:spcPts val="0"/>
              </a:spcBef>
              <a:spcAft>
                <a:spcPts val="0"/>
              </a:spcAft>
              <a:buNone/>
            </a:pPr>
            <a:r>
              <a:rPr lang="en-AU" sz="1200" i="0" dirty="0">
                <a:solidFill>
                  <a:schemeClr val="dk1"/>
                </a:solidFill>
                <a:latin typeface="Calibri"/>
                <a:ea typeface="Calibri"/>
                <a:cs typeface="Calibri"/>
                <a:sym typeface="Calibri"/>
              </a:rPr>
              <a:t>Every aspect of handling data is safeguarded: from its de-identification, to its encryption – data security is paramount and of the highest grade. </a:t>
            </a:r>
            <a:endParaRPr dirty="0"/>
          </a:p>
          <a:p>
            <a:pPr marL="0" lvl="0" indent="0" algn="l" rtl="0">
              <a:spcBef>
                <a:spcPts val="0"/>
              </a:spcBef>
              <a:spcAft>
                <a:spcPts val="0"/>
              </a:spcAft>
              <a:buNone/>
            </a:pPr>
            <a:r>
              <a:rPr lang="en-AU" sz="1200" i="0" dirty="0">
                <a:solidFill>
                  <a:schemeClr val="dk1"/>
                </a:solidFill>
                <a:latin typeface="Calibri"/>
                <a:ea typeface="Calibri"/>
                <a:cs typeface="Calibri"/>
                <a:sym typeface="Calibri"/>
              </a:rPr>
              <a:t>We pride ourselves on gaining the trust of iconic organisations around the world through years of securely working with their data, </a:t>
            </a:r>
            <a:endParaRPr dirty="0"/>
          </a:p>
          <a:p>
            <a:pPr marL="0" lvl="0" indent="0" algn="l" rtl="0">
              <a:spcBef>
                <a:spcPts val="0"/>
              </a:spcBef>
              <a:spcAft>
                <a:spcPts val="0"/>
              </a:spcAft>
              <a:buNone/>
            </a:pPr>
            <a:r>
              <a:rPr lang="en-AU" sz="1200" i="0" dirty="0">
                <a:solidFill>
                  <a:schemeClr val="dk1"/>
                </a:solidFill>
                <a:latin typeface="Calibri"/>
                <a:ea typeface="Calibri"/>
                <a:cs typeface="Calibri"/>
                <a:sym typeface="Calibri"/>
              </a:rPr>
              <a:t>and in turn the trust that builds with their stakeholders.</a:t>
            </a:r>
            <a:endParaRPr dirty="0"/>
          </a:p>
          <a:p>
            <a:pPr marL="0" lvl="0" indent="0" algn="l" rtl="0">
              <a:spcBef>
                <a:spcPts val="0"/>
              </a:spcBef>
              <a:spcAft>
                <a:spcPts val="0"/>
              </a:spcAft>
              <a:buNone/>
            </a:pPr>
            <a:endParaRPr i="0" dirty="0"/>
          </a:p>
        </p:txBody>
      </p:sp>
      <p:sp>
        <p:nvSpPr>
          <p:cNvPr id="79" name="Google Shape;7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Roboto Light"/>
              <a:buNone/>
            </a:pPr>
            <a:fld id="{00000000-1234-1234-1234-123412341234}" type="slidenum">
              <a:rPr lang="en-AU" sz="1200" b="0" i="0" u="none" strike="noStrike" cap="none">
                <a:solidFill>
                  <a:srgbClr val="000000"/>
                </a:solidFill>
                <a:latin typeface="Roboto Light"/>
                <a:ea typeface="Roboto Light"/>
                <a:cs typeface="Roboto Light"/>
                <a:sym typeface="Roboto Light"/>
              </a:rPr>
              <a:t>2</a:t>
            </a:fld>
            <a:endParaRPr sz="1200" b="0" i="0" u="none" strike="noStrike" cap="none" dirty="0">
              <a:solidFill>
                <a:srgbClr val="000000"/>
              </a:solidFill>
              <a:latin typeface="Roboto Light"/>
              <a:ea typeface="Roboto Light"/>
              <a:cs typeface="Roboto Light"/>
              <a:sym typeface="Roboto 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3" name="Google Shape;8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AU"/>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beach">
  <p:cSld name="Title beach">
    <p:spTree>
      <p:nvGrpSpPr>
        <p:cNvPr id="1" name="Shape 31"/>
        <p:cNvGrpSpPr/>
        <p:nvPr/>
      </p:nvGrpSpPr>
      <p:grpSpPr>
        <a:xfrm>
          <a:off x="0" y="0"/>
          <a:ext cx="0" cy="0"/>
          <a:chOff x="0" y="0"/>
          <a:chExt cx="0" cy="0"/>
        </a:xfrm>
      </p:grpSpPr>
      <p:sp>
        <p:nvSpPr>
          <p:cNvPr id="32" name="Google Shape;32;p2"/>
          <p:cNvSpPr txBox="1">
            <a:spLocks noGrp="1"/>
          </p:cNvSpPr>
          <p:nvPr>
            <p:ph type="ctrTitle"/>
          </p:nvPr>
        </p:nvSpPr>
        <p:spPr>
          <a:xfrm>
            <a:off x="1212852" y="1537494"/>
            <a:ext cx="4086224" cy="2387600"/>
          </a:xfrm>
          <a:prstGeom prst="rect">
            <a:avLst/>
          </a:prstGeom>
          <a:noFill/>
          <a:ln>
            <a:noFill/>
          </a:ln>
        </p:spPr>
        <p:txBody>
          <a:bodyPr spcFirstLastPara="1" wrap="square" lIns="0" tIns="45700" rIns="91425" bIns="45700" anchor="b" anchorCtr="0">
            <a:noAutofit/>
          </a:bodyPr>
          <a:lstStyle>
            <a:lvl1pPr marR="0" lvl="0" algn="l" rtl="0">
              <a:lnSpc>
                <a:spcPct val="100000"/>
              </a:lnSpc>
              <a:spcBef>
                <a:spcPts val="0"/>
              </a:spcBef>
              <a:spcAft>
                <a:spcPts val="0"/>
              </a:spcAft>
              <a:buClr>
                <a:srgbClr val="000005"/>
              </a:buClr>
              <a:buSzPts val="2700"/>
              <a:buFont typeface="Roboto Medium"/>
              <a:buNone/>
              <a:defRPr sz="2700" b="0" i="0" u="none" strike="noStrike" cap="none">
                <a:solidFill>
                  <a:srgbClr val="000005"/>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 name="Google Shape;33;p2"/>
          <p:cNvSpPr txBox="1">
            <a:spLocks noGrp="1"/>
          </p:cNvSpPr>
          <p:nvPr>
            <p:ph type="subTitle" idx="1"/>
          </p:nvPr>
        </p:nvSpPr>
        <p:spPr>
          <a:xfrm>
            <a:off x="1212851" y="4126706"/>
            <a:ext cx="4086224" cy="1236662"/>
          </a:xfrm>
          <a:prstGeom prst="rect">
            <a:avLst/>
          </a:prstGeom>
          <a:noFill/>
          <a:ln>
            <a:noFill/>
          </a:ln>
        </p:spPr>
        <p:txBody>
          <a:bodyPr spcFirstLastPara="1" wrap="square" lIns="0" tIns="45700" rIns="91425" bIns="45700" anchor="t" anchorCtr="0">
            <a:noAutofit/>
          </a:bodyPr>
          <a:lstStyle>
            <a:lvl1pPr marR="0" lvl="0" algn="l" rtl="0">
              <a:lnSpc>
                <a:spcPct val="100000"/>
              </a:lnSpc>
              <a:spcBef>
                <a:spcPts val="1000"/>
              </a:spcBef>
              <a:spcAft>
                <a:spcPts val="0"/>
              </a:spcAft>
              <a:buClr>
                <a:srgbClr val="000005"/>
              </a:buClr>
              <a:buSzPts val="1800"/>
              <a:buFont typeface="Arial"/>
              <a:buNone/>
              <a:defRPr sz="1800" b="0" i="0" u="none" strike="noStrike" cap="none">
                <a:solidFill>
                  <a:srgbClr val="000005"/>
                </a:solidFill>
                <a:latin typeface="Roboto Light"/>
                <a:ea typeface="Roboto Light"/>
                <a:cs typeface="Roboto Light"/>
                <a:sym typeface="Roboto Light"/>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Roboto"/>
                <a:ea typeface="Roboto"/>
                <a:cs typeface="Roboto"/>
                <a:sym typeface="Roboto"/>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Roboto"/>
                <a:ea typeface="Roboto"/>
                <a:cs typeface="Roboto"/>
                <a:sym typeface="Roboto"/>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Light"/>
                <a:ea typeface="Roboto Light"/>
                <a:cs typeface="Roboto Light"/>
                <a:sym typeface="Roboto Light"/>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Light"/>
                <a:ea typeface="Roboto Light"/>
                <a:cs typeface="Roboto Light"/>
                <a:sym typeface="Roboto Light"/>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Light"/>
                <a:ea typeface="Roboto Light"/>
                <a:cs typeface="Roboto Light"/>
                <a:sym typeface="Roboto Light"/>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Light"/>
                <a:ea typeface="Roboto Light"/>
                <a:cs typeface="Roboto Light"/>
                <a:sym typeface="Roboto Light"/>
              </a:defRPr>
            </a:lvl9pPr>
          </a:lstStyle>
          <a:p>
            <a:endParaRPr/>
          </a:p>
        </p:txBody>
      </p:sp>
      <p:sp>
        <p:nvSpPr>
          <p:cNvPr id="34" name="Google Shape;34;p2"/>
          <p:cNvSpPr/>
          <p:nvPr/>
        </p:nvSpPr>
        <p:spPr>
          <a:xfrm>
            <a:off x="169682" y="6202837"/>
            <a:ext cx="377072" cy="377072"/>
          </a:xfrm>
          <a:prstGeom prst="rect">
            <a:avLst/>
          </a:prstGeom>
          <a:solidFill>
            <a:srgbClr val="0000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Light"/>
              <a:ea typeface="Roboto Light"/>
              <a:cs typeface="Roboto Light"/>
              <a:sym typeface="Roboto Light"/>
            </a:endParaRPr>
          </a:p>
        </p:txBody>
      </p:sp>
      <p:sp>
        <p:nvSpPr>
          <p:cNvPr id="35" name="Google Shape;35;p2"/>
          <p:cNvSpPr txBox="1">
            <a:spLocks noGrp="1"/>
          </p:cNvSpPr>
          <p:nvPr>
            <p:ph type="body" idx="2"/>
          </p:nvPr>
        </p:nvSpPr>
        <p:spPr>
          <a:xfrm>
            <a:off x="1212851" y="650875"/>
            <a:ext cx="2128838" cy="2444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000"/>
              </a:spcBef>
              <a:spcAft>
                <a:spcPts val="0"/>
              </a:spcAft>
              <a:buClr>
                <a:srgbClr val="000005"/>
              </a:buClr>
              <a:buSzPts val="1000"/>
              <a:buFont typeface="Arial"/>
              <a:buNone/>
              <a:defRPr sz="1000" b="0" i="0" u="none" strike="noStrike" cap="none">
                <a:solidFill>
                  <a:srgbClr val="000005"/>
                </a:solidFill>
                <a:latin typeface="Roboto Light"/>
                <a:ea typeface="Roboto Light"/>
                <a:cs typeface="Roboto Light"/>
                <a:sym typeface="Robot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9pPr>
          </a:lstStyle>
          <a:p>
            <a:endParaRPr/>
          </a:p>
        </p:txBody>
      </p:sp>
      <p:sp>
        <p:nvSpPr>
          <p:cNvPr id="36" name="Google Shape;36;p2"/>
          <p:cNvSpPr txBox="1">
            <a:spLocks noGrp="1"/>
          </p:cNvSpPr>
          <p:nvPr>
            <p:ph type="body" idx="3"/>
          </p:nvPr>
        </p:nvSpPr>
        <p:spPr>
          <a:xfrm>
            <a:off x="1212851" y="458789"/>
            <a:ext cx="2128838" cy="2444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000"/>
              </a:spcBef>
              <a:spcAft>
                <a:spcPts val="0"/>
              </a:spcAft>
              <a:buClr>
                <a:srgbClr val="000005"/>
              </a:buClr>
              <a:buSzPts val="1000"/>
              <a:buFont typeface="Arial"/>
              <a:buNone/>
              <a:defRPr sz="1000" b="0" i="0" u="none" strike="noStrike" cap="none">
                <a:solidFill>
                  <a:srgbClr val="000005"/>
                </a:solidFill>
                <a:latin typeface="Roboto Medium"/>
                <a:ea typeface="Roboto Medium"/>
                <a:cs typeface="Roboto Medium"/>
                <a:sym typeface="Roboto Medium"/>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9pPr>
          </a:lstStyle>
          <a:p>
            <a:endParaRPr/>
          </a:p>
        </p:txBody>
      </p:sp>
      <p:sp>
        <p:nvSpPr>
          <p:cNvPr id="37" name="Google Shape;37;p2"/>
          <p:cNvSpPr/>
          <p:nvPr/>
        </p:nvSpPr>
        <p:spPr>
          <a:xfrm>
            <a:off x="7580399" y="-1"/>
            <a:ext cx="4611600" cy="6858000"/>
          </a:xfrm>
          <a:prstGeom prst="rect">
            <a:avLst/>
          </a:prstGeom>
          <a:blipFill rotWithShape="1">
            <a:blip r:embed="rId2">
              <a:alphaModFix/>
            </a:blip>
            <a:stretch>
              <a:fillRect t="-15" b="-15"/>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rgbClr val="000005"/>
              </a:solidFill>
              <a:latin typeface="Roboto Light"/>
              <a:ea typeface="Roboto Light"/>
              <a:cs typeface="Roboto Light"/>
              <a:sym typeface="Roboto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IC, privacy &amp; ISO">
  <p:cSld name="CIC, privacy &amp; ISO">
    <p:spTree>
      <p:nvGrpSpPr>
        <p:cNvPr id="1" name="Shape 38"/>
        <p:cNvGrpSpPr/>
        <p:nvPr/>
      </p:nvGrpSpPr>
      <p:grpSpPr>
        <a:xfrm>
          <a:off x="0" y="0"/>
          <a:ext cx="0" cy="0"/>
          <a:chOff x="0" y="0"/>
          <a:chExt cx="0" cy="0"/>
        </a:xfrm>
      </p:grpSpPr>
      <p:sp>
        <p:nvSpPr>
          <p:cNvPr id="39" name="Google Shape;39;p3"/>
          <p:cNvSpPr/>
          <p:nvPr/>
        </p:nvSpPr>
        <p:spPr>
          <a:xfrm>
            <a:off x="740569" y="1777835"/>
            <a:ext cx="11451428" cy="5080164"/>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Light"/>
              <a:ea typeface="Roboto Light"/>
              <a:cs typeface="Roboto Light"/>
              <a:sym typeface="Roboto Light"/>
            </a:endParaRPr>
          </a:p>
        </p:txBody>
      </p:sp>
      <p:sp>
        <p:nvSpPr>
          <p:cNvPr id="40" name="Google Shape;40;p3"/>
          <p:cNvSpPr/>
          <p:nvPr/>
        </p:nvSpPr>
        <p:spPr>
          <a:xfrm>
            <a:off x="9004300" y="-2"/>
            <a:ext cx="3187698" cy="6858002"/>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Light"/>
              <a:ea typeface="Roboto Light"/>
              <a:cs typeface="Roboto Light"/>
              <a:sym typeface="Roboto Light"/>
            </a:endParaRPr>
          </a:p>
        </p:txBody>
      </p:sp>
      <p:sp>
        <p:nvSpPr>
          <p:cNvPr id="41" name="Google Shape;41;p3"/>
          <p:cNvSpPr/>
          <p:nvPr/>
        </p:nvSpPr>
        <p:spPr>
          <a:xfrm>
            <a:off x="11677650" y="500063"/>
            <a:ext cx="1073150" cy="107315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Light"/>
              <a:ea typeface="Roboto Light"/>
              <a:cs typeface="Roboto Light"/>
              <a:sym typeface="Roboto Light"/>
            </a:endParaRPr>
          </a:p>
        </p:txBody>
      </p:sp>
      <p:sp>
        <p:nvSpPr>
          <p:cNvPr id="42" name="Google Shape;42;p3"/>
          <p:cNvSpPr/>
          <p:nvPr/>
        </p:nvSpPr>
        <p:spPr>
          <a:xfrm>
            <a:off x="1206500" y="6209380"/>
            <a:ext cx="1422400" cy="360045"/>
          </a:xfrm>
          <a:custGeom>
            <a:avLst/>
            <a:gdLst/>
            <a:ahLst/>
            <a:cxnLst/>
            <a:rect l="l" t="t" r="r" b="b"/>
            <a:pathLst>
              <a:path w="7680" h="1944" extrusionOk="0">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Roboto Light"/>
              <a:ea typeface="Roboto Light"/>
              <a:cs typeface="Roboto Light"/>
              <a:sym typeface="Roboto Light"/>
            </a:endParaRPr>
          </a:p>
        </p:txBody>
      </p:sp>
      <p:sp>
        <p:nvSpPr>
          <p:cNvPr id="43" name="Google Shape;43;p3"/>
          <p:cNvSpPr txBox="1"/>
          <p:nvPr/>
        </p:nvSpPr>
        <p:spPr>
          <a:xfrm>
            <a:off x="1196974" y="400204"/>
            <a:ext cx="7446169" cy="824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5"/>
              </a:buClr>
              <a:buSzPts val="2400"/>
              <a:buFont typeface="Arial"/>
              <a:buNone/>
            </a:pPr>
            <a:r>
              <a:rPr lang="en-AU" sz="2400" b="0" i="0" u="none" strike="noStrike" cap="none">
                <a:solidFill>
                  <a:srgbClr val="000005"/>
                </a:solidFill>
                <a:latin typeface="Roboto"/>
                <a:ea typeface="Roboto"/>
                <a:cs typeface="Roboto"/>
                <a:sym typeface="Roboto"/>
              </a:rPr>
              <a:t>Our 17 year history assures best practice in privacy, security and the ethical use of data</a:t>
            </a:r>
            <a:endParaRPr/>
          </a:p>
        </p:txBody>
      </p:sp>
      <p:sp>
        <p:nvSpPr>
          <p:cNvPr id="44" name="Google Shape;44;p3"/>
          <p:cNvSpPr txBox="1"/>
          <p:nvPr/>
        </p:nvSpPr>
        <p:spPr>
          <a:xfrm>
            <a:off x="9407615" y="2417885"/>
            <a:ext cx="2338907" cy="218049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FFFFFF"/>
              </a:buClr>
              <a:buSzPts val="1800"/>
              <a:buFont typeface="Arial"/>
              <a:buNone/>
            </a:pPr>
            <a:r>
              <a:rPr lang="en-AU" sz="1800" b="0" i="0" u="none" strike="noStrike" cap="none">
                <a:solidFill>
                  <a:srgbClr val="FFFFFF"/>
                </a:solidFill>
                <a:latin typeface="Roboto Light"/>
                <a:ea typeface="Roboto Light"/>
                <a:cs typeface="Roboto Light"/>
                <a:sym typeface="Roboto Light"/>
              </a:rPr>
              <a:t>Quantium believes </a:t>
            </a:r>
            <a:br>
              <a:rPr lang="en-AU" sz="1800" b="0" i="0" u="none" strike="noStrike" cap="none">
                <a:solidFill>
                  <a:srgbClr val="FFFFFF"/>
                </a:solidFill>
                <a:latin typeface="Roboto Light"/>
                <a:ea typeface="Roboto Light"/>
                <a:cs typeface="Roboto Light"/>
                <a:sym typeface="Roboto Light"/>
              </a:rPr>
            </a:br>
            <a:r>
              <a:rPr lang="en-AU" sz="1800" b="0" i="0" u="none" strike="noStrike" cap="none">
                <a:solidFill>
                  <a:srgbClr val="FFFFFF"/>
                </a:solidFill>
                <a:latin typeface="Roboto Light"/>
                <a:ea typeface="Roboto Light"/>
                <a:cs typeface="Roboto Light"/>
                <a:sym typeface="Roboto Light"/>
              </a:rPr>
              <a:t>in using data for progress, with great care and responsibility. As such please respect the commercial in confidence nature </a:t>
            </a:r>
            <a:br>
              <a:rPr lang="en-AU" sz="1800" b="0" i="0" u="none" strike="noStrike" cap="none">
                <a:solidFill>
                  <a:srgbClr val="FFFFFF"/>
                </a:solidFill>
                <a:latin typeface="Roboto Light"/>
                <a:ea typeface="Roboto Light"/>
                <a:cs typeface="Roboto Light"/>
                <a:sym typeface="Roboto Light"/>
              </a:rPr>
            </a:br>
            <a:r>
              <a:rPr lang="en-AU" sz="1800" b="0" i="0" u="none" strike="noStrike" cap="none">
                <a:solidFill>
                  <a:srgbClr val="FFFFFF"/>
                </a:solidFill>
                <a:latin typeface="Roboto Light"/>
                <a:ea typeface="Roboto Light"/>
                <a:cs typeface="Roboto Light"/>
                <a:sym typeface="Roboto Light"/>
              </a:rPr>
              <a:t>of this document.</a:t>
            </a:r>
            <a:endParaRPr/>
          </a:p>
        </p:txBody>
      </p:sp>
      <p:sp>
        <p:nvSpPr>
          <p:cNvPr id="45" name="Google Shape;45;p3"/>
          <p:cNvSpPr txBox="1"/>
          <p:nvPr/>
        </p:nvSpPr>
        <p:spPr>
          <a:xfrm>
            <a:off x="9407615" y="500063"/>
            <a:ext cx="2207023" cy="107315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FFFF"/>
              </a:buClr>
              <a:buSzPts val="2400"/>
              <a:buFont typeface="Arial"/>
              <a:buNone/>
            </a:pPr>
            <a:r>
              <a:rPr lang="en-AU" sz="2400" b="0" i="0" u="none" strike="noStrike" cap="none">
                <a:solidFill>
                  <a:srgbClr val="FFFFFF"/>
                </a:solidFill>
                <a:latin typeface="Roboto"/>
                <a:ea typeface="Roboto"/>
                <a:cs typeface="Roboto"/>
                <a:sym typeface="Roboto"/>
              </a:rPr>
              <a:t>We all have a responsibility</a:t>
            </a:r>
            <a:br>
              <a:rPr lang="en-AU" sz="2400" b="0" i="0" u="none" strike="noStrike" cap="none">
                <a:solidFill>
                  <a:srgbClr val="FFFFFF"/>
                </a:solidFill>
                <a:latin typeface="Roboto"/>
                <a:ea typeface="Roboto"/>
                <a:cs typeface="Roboto"/>
                <a:sym typeface="Roboto"/>
              </a:rPr>
            </a:br>
            <a:r>
              <a:rPr lang="en-AU" sz="2400" b="0" i="0" u="none" strike="noStrike" cap="none">
                <a:solidFill>
                  <a:srgbClr val="FFFFFF"/>
                </a:solidFill>
                <a:latin typeface="Roboto"/>
                <a:ea typeface="Roboto"/>
                <a:cs typeface="Roboto"/>
                <a:sym typeface="Roboto"/>
              </a:rPr>
              <a:t>to use data</a:t>
            </a:r>
            <a:br>
              <a:rPr lang="en-AU" sz="2400" b="0" i="0" u="none" strike="noStrike" cap="none">
                <a:solidFill>
                  <a:srgbClr val="FFFFFF"/>
                </a:solidFill>
                <a:latin typeface="Roboto"/>
                <a:ea typeface="Roboto"/>
                <a:cs typeface="Roboto"/>
                <a:sym typeface="Roboto"/>
              </a:rPr>
            </a:br>
            <a:r>
              <a:rPr lang="en-AU" sz="2400" b="0" i="0" u="none" strike="noStrike" cap="none">
                <a:solidFill>
                  <a:srgbClr val="FFFFFF"/>
                </a:solidFill>
                <a:latin typeface="Roboto"/>
                <a:ea typeface="Roboto"/>
                <a:cs typeface="Roboto"/>
                <a:sym typeface="Roboto"/>
              </a:rPr>
              <a:t>for good</a:t>
            </a:r>
            <a:endParaRPr/>
          </a:p>
        </p:txBody>
      </p:sp>
      <p:sp>
        <p:nvSpPr>
          <p:cNvPr id="46" name="Google Shape;46;p3"/>
          <p:cNvSpPr/>
          <p:nvPr/>
        </p:nvSpPr>
        <p:spPr>
          <a:xfrm>
            <a:off x="1196975" y="1972575"/>
            <a:ext cx="2311153" cy="307777"/>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000005"/>
              </a:buClr>
              <a:buSzPts val="1400"/>
              <a:buFont typeface="Roboto Medium"/>
              <a:buNone/>
            </a:pPr>
            <a:r>
              <a:rPr lang="en-AU" sz="1400" b="0" i="0" u="none" strike="noStrike" cap="none">
                <a:solidFill>
                  <a:srgbClr val="000005"/>
                </a:solidFill>
                <a:latin typeface="Roboto Medium"/>
                <a:ea typeface="Roboto Medium"/>
                <a:cs typeface="Roboto Medium"/>
                <a:sym typeface="Roboto Medium"/>
              </a:rPr>
              <a:t>Privacy</a:t>
            </a:r>
            <a:endParaRPr/>
          </a:p>
        </p:txBody>
      </p:sp>
      <p:sp>
        <p:nvSpPr>
          <p:cNvPr id="47" name="Google Shape;47;p3"/>
          <p:cNvSpPr/>
          <p:nvPr/>
        </p:nvSpPr>
        <p:spPr>
          <a:xfrm>
            <a:off x="1196974" y="2254637"/>
            <a:ext cx="2311153" cy="1938992"/>
          </a:xfrm>
          <a:prstGeom prst="rect">
            <a:avLst/>
          </a:prstGeom>
          <a:noFill/>
          <a:ln>
            <a:noFill/>
          </a:ln>
        </p:spPr>
        <p:txBody>
          <a:bodyPr spcFirstLastPara="1" wrap="square" lIns="0" tIns="45700" rIns="0" bIns="45700" anchor="t" anchorCtr="0">
            <a:noAutofit/>
          </a:bodyPr>
          <a:lstStyle/>
          <a:p>
            <a:pPr marL="179997" marR="0" lvl="0" indent="-179997" algn="l" rtl="0">
              <a:lnSpc>
                <a:spcPct val="100000"/>
              </a:lnSpc>
              <a:spcBef>
                <a:spcPts val="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We have built our business based on privacy by design principles </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for the past 17 years</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Quantium has strict protocols</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around the receipt and storage </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of personal information</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All information is de-identified using an irreversible tokenisation process with no ability to</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re-identify individuals.</a:t>
            </a:r>
            <a:endParaRPr/>
          </a:p>
        </p:txBody>
      </p:sp>
      <p:sp>
        <p:nvSpPr>
          <p:cNvPr id="48" name="Google Shape;48;p3"/>
          <p:cNvSpPr/>
          <p:nvPr/>
        </p:nvSpPr>
        <p:spPr>
          <a:xfrm>
            <a:off x="3957637" y="1972575"/>
            <a:ext cx="2311153" cy="307777"/>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000005"/>
              </a:buClr>
              <a:buSzPts val="1400"/>
              <a:buFont typeface="Roboto Medium"/>
              <a:buNone/>
            </a:pPr>
            <a:r>
              <a:rPr lang="en-AU" sz="1400" b="0" i="0" u="none" strike="noStrike" cap="none">
                <a:solidFill>
                  <a:srgbClr val="000005"/>
                </a:solidFill>
                <a:latin typeface="Roboto Medium"/>
                <a:ea typeface="Roboto Medium"/>
                <a:cs typeface="Roboto Medium"/>
                <a:sym typeface="Roboto Medium"/>
              </a:rPr>
              <a:t>Security</a:t>
            </a:r>
            <a:endParaRPr/>
          </a:p>
        </p:txBody>
      </p:sp>
      <p:sp>
        <p:nvSpPr>
          <p:cNvPr id="49" name="Google Shape;49;p3"/>
          <p:cNvSpPr/>
          <p:nvPr/>
        </p:nvSpPr>
        <p:spPr>
          <a:xfrm>
            <a:off x="3957637" y="2254637"/>
            <a:ext cx="2311153" cy="3524042"/>
          </a:xfrm>
          <a:prstGeom prst="rect">
            <a:avLst/>
          </a:prstGeom>
          <a:noFill/>
          <a:ln>
            <a:noFill/>
          </a:ln>
        </p:spPr>
        <p:txBody>
          <a:bodyPr spcFirstLastPara="1" wrap="square" lIns="0" tIns="45700" rIns="91425" bIns="45700" anchor="t" anchorCtr="0">
            <a:noAutofit/>
          </a:bodyPr>
          <a:lstStyle/>
          <a:p>
            <a:pPr marL="179997" marR="0" lvl="0" indent="-179997" algn="l" rtl="0">
              <a:lnSpc>
                <a:spcPct val="100000"/>
              </a:lnSpc>
              <a:spcBef>
                <a:spcPts val="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We are ISO27001 certified - internationally recognised </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for our ability to uphold best practice standards across information security</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We use ‘bank grade’ security </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to store and process our data</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Comply with 200+ security requirements from NAB, Woolworths and other </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data partners</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All partner data is held in separate restricted environments</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All access to partner data is limited to essential staff only</a:t>
            </a:r>
            <a:endParaRPr/>
          </a:p>
          <a:p>
            <a:pPr marL="179997" marR="0" lvl="0" indent="-179997" algn="l" rtl="0">
              <a:lnSpc>
                <a:spcPct val="100000"/>
              </a:lnSpc>
              <a:spcBef>
                <a:spcPts val="600"/>
              </a:spcBef>
              <a:spcAft>
                <a:spcPts val="0"/>
              </a:spcAft>
              <a:buClr>
                <a:srgbClr val="000005"/>
              </a:buClr>
              <a:buSzPts val="1100"/>
              <a:buFont typeface="Roboto Light"/>
              <a:buChar char="•"/>
            </a:pPr>
            <a:r>
              <a:rPr lang="en-AU" sz="1100" b="0" i="0" u="none" strike="noStrike" cap="none">
                <a:solidFill>
                  <a:srgbClr val="000005"/>
                </a:solidFill>
                <a:latin typeface="Roboto Light"/>
                <a:ea typeface="Roboto Light"/>
                <a:cs typeface="Roboto Light"/>
                <a:sym typeface="Roboto Light"/>
              </a:rPr>
              <a:t>Security environment and processes regularly audited </a:t>
            </a:r>
            <a:br>
              <a:rPr lang="en-AU" sz="1100" b="0" i="0" u="none" strike="noStrike" cap="none">
                <a:solidFill>
                  <a:srgbClr val="000005"/>
                </a:solidFill>
                <a:latin typeface="Roboto Light"/>
                <a:ea typeface="Roboto Light"/>
                <a:cs typeface="Roboto Light"/>
                <a:sym typeface="Roboto Light"/>
              </a:rPr>
            </a:br>
            <a:r>
              <a:rPr lang="en-AU" sz="1100" b="0" i="0" u="none" strike="noStrike" cap="none">
                <a:solidFill>
                  <a:srgbClr val="000005"/>
                </a:solidFill>
                <a:latin typeface="Roboto Light"/>
                <a:ea typeface="Roboto Light"/>
                <a:cs typeface="Roboto Light"/>
                <a:sym typeface="Roboto Light"/>
              </a:rPr>
              <a:t>by our data partners.</a:t>
            </a:r>
            <a:endParaRPr sz="1100" b="0" i="0" u="none" strike="noStrike" cap="none">
              <a:solidFill>
                <a:srgbClr val="000005"/>
              </a:solidFill>
              <a:latin typeface="Roboto Light"/>
              <a:ea typeface="Roboto Light"/>
              <a:cs typeface="Roboto Light"/>
              <a:sym typeface="Roboto Light"/>
            </a:endParaRPr>
          </a:p>
        </p:txBody>
      </p:sp>
      <p:sp>
        <p:nvSpPr>
          <p:cNvPr id="50" name="Google Shape;50;p3"/>
          <p:cNvSpPr/>
          <p:nvPr/>
        </p:nvSpPr>
        <p:spPr>
          <a:xfrm>
            <a:off x="6718300" y="1972575"/>
            <a:ext cx="2311153" cy="307777"/>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000005"/>
              </a:buClr>
              <a:buSzPts val="1400"/>
              <a:buFont typeface="Roboto Medium"/>
              <a:buNone/>
            </a:pPr>
            <a:r>
              <a:rPr lang="en-AU" sz="1400" b="0" i="0" u="none" strike="noStrike" cap="none">
                <a:solidFill>
                  <a:srgbClr val="000005"/>
                </a:solidFill>
                <a:latin typeface="Roboto Medium"/>
                <a:ea typeface="Roboto Medium"/>
                <a:cs typeface="Roboto Medium"/>
                <a:sym typeface="Roboto Medium"/>
              </a:rPr>
              <a:t>Ethical use of data</a:t>
            </a:r>
            <a:endParaRPr/>
          </a:p>
        </p:txBody>
      </p:sp>
      <p:sp>
        <p:nvSpPr>
          <p:cNvPr id="51" name="Google Shape;51;p3"/>
          <p:cNvSpPr/>
          <p:nvPr/>
        </p:nvSpPr>
        <p:spPr>
          <a:xfrm>
            <a:off x="6718300" y="2254637"/>
            <a:ext cx="2125664" cy="938719"/>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5"/>
              </a:buClr>
              <a:buSzPts val="1100"/>
              <a:buFont typeface="Roboto Light"/>
              <a:buNone/>
            </a:pPr>
            <a:r>
              <a:rPr lang="en-AU" sz="1100" b="0" i="0" u="none" strike="noStrike" cap="none">
                <a:solidFill>
                  <a:srgbClr val="000005"/>
                </a:solidFill>
                <a:latin typeface="Roboto Light"/>
                <a:ea typeface="Roboto Light"/>
                <a:cs typeface="Roboto Light"/>
                <a:sym typeface="Roboto Light"/>
              </a:rPr>
              <a:t>Applies to all facets of our work, from the initiatives we take on, the information we use and how our solutions impact individuals, organisations and society.</a:t>
            </a:r>
            <a:endParaRPr/>
          </a:p>
        </p:txBody>
      </p:sp>
      <p:grpSp>
        <p:nvGrpSpPr>
          <p:cNvPr id="52" name="Google Shape;52;p3"/>
          <p:cNvGrpSpPr/>
          <p:nvPr/>
        </p:nvGrpSpPr>
        <p:grpSpPr>
          <a:xfrm>
            <a:off x="3732882" y="1987963"/>
            <a:ext cx="2760663" cy="3790715"/>
            <a:chOff x="3732882" y="1987964"/>
            <a:chExt cx="2760663" cy="3850128"/>
          </a:xfrm>
        </p:grpSpPr>
        <p:cxnSp>
          <p:nvCxnSpPr>
            <p:cNvPr id="53" name="Google Shape;53;p3"/>
            <p:cNvCxnSpPr/>
            <p:nvPr/>
          </p:nvCxnSpPr>
          <p:spPr>
            <a:xfrm>
              <a:off x="3732882" y="1987964"/>
              <a:ext cx="0" cy="3850128"/>
            </a:xfrm>
            <a:prstGeom prst="straightConnector1">
              <a:avLst/>
            </a:prstGeom>
            <a:noFill/>
            <a:ln w="9525" cap="flat" cmpd="sng">
              <a:solidFill>
                <a:srgbClr val="BCB5AC"/>
              </a:solidFill>
              <a:prstDash val="solid"/>
              <a:miter lim="800000"/>
              <a:headEnd type="none" w="sm" len="sm"/>
              <a:tailEnd type="none" w="sm" len="sm"/>
            </a:ln>
          </p:spPr>
        </p:cxnSp>
        <p:cxnSp>
          <p:nvCxnSpPr>
            <p:cNvPr id="54" name="Google Shape;54;p3"/>
            <p:cNvCxnSpPr/>
            <p:nvPr/>
          </p:nvCxnSpPr>
          <p:spPr>
            <a:xfrm>
              <a:off x="6493545" y="1987964"/>
              <a:ext cx="0" cy="3850128"/>
            </a:xfrm>
            <a:prstGeom prst="straightConnector1">
              <a:avLst/>
            </a:prstGeom>
            <a:noFill/>
            <a:ln w="9525" cap="flat" cmpd="sng">
              <a:solidFill>
                <a:srgbClr val="BCB5AC"/>
              </a:solidFill>
              <a:prstDash val="solid"/>
              <a:miter lim="800000"/>
              <a:headEnd type="none" w="sm" len="sm"/>
              <a:tailEnd type="none" w="sm" len="sm"/>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Heading blank">
  <p:cSld name="Heading blank">
    <p:spTree>
      <p:nvGrpSpPr>
        <p:cNvPr id="1" name="Shape 55"/>
        <p:cNvGrpSpPr/>
        <p:nvPr/>
      </p:nvGrpSpPr>
      <p:grpSpPr>
        <a:xfrm>
          <a:off x="0" y="0"/>
          <a:ext cx="0" cy="0"/>
          <a:chOff x="0" y="0"/>
          <a:chExt cx="0" cy="0"/>
        </a:xfrm>
      </p:grpSpPr>
      <p:sp>
        <p:nvSpPr>
          <p:cNvPr id="56" name="Google Shape;56;p4"/>
          <p:cNvSpPr txBox="1">
            <a:spLocks noGrp="1"/>
          </p:cNvSpPr>
          <p:nvPr>
            <p:ph type="body" idx="1"/>
          </p:nvPr>
        </p:nvSpPr>
        <p:spPr>
          <a:xfrm>
            <a:off x="1196975" y="453371"/>
            <a:ext cx="10479600" cy="824400"/>
          </a:xfrm>
          <a:prstGeom prst="rect">
            <a:avLst/>
          </a:prstGeom>
          <a:noFill/>
          <a:ln>
            <a:noFill/>
          </a:ln>
        </p:spPr>
        <p:txBody>
          <a:bodyPr spcFirstLastPara="1" wrap="square" lIns="0" tIns="0" rIns="91425" bIns="45700" anchor="t" anchorCtr="0">
            <a:noAutofit/>
          </a:bodyPr>
          <a:lstStyle>
            <a:lvl1pPr marL="457200" marR="0" lvl="0" indent="-228600" algn="l" rtl="0">
              <a:lnSpc>
                <a:spcPct val="100000"/>
              </a:lnSpc>
              <a:spcBef>
                <a:spcPts val="1000"/>
              </a:spcBef>
              <a:spcAft>
                <a:spcPts val="0"/>
              </a:spcAft>
              <a:buClr>
                <a:srgbClr val="000005"/>
              </a:buClr>
              <a:buSzPts val="2400"/>
              <a:buFont typeface="Arial"/>
              <a:buNone/>
              <a:defRPr sz="2400" b="0" i="0" u="none" strike="noStrike" cap="none">
                <a:solidFill>
                  <a:srgbClr val="000005"/>
                </a:solidFill>
                <a:latin typeface="Roboto"/>
                <a:ea typeface="Roboto"/>
                <a:cs typeface="Roboto"/>
                <a:sym typeface="Roboto"/>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Roboto Light"/>
                <a:ea typeface="Roboto Light"/>
                <a:cs typeface="Roboto Light"/>
                <a:sym typeface="Roboto Light"/>
              </a:defRPr>
            </a:lvl2pPr>
            <a:lvl3pPr marL="1371600" marR="0" lvl="2"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Roboto Light"/>
                <a:ea typeface="Roboto Light"/>
                <a:cs typeface="Roboto Light"/>
                <a:sym typeface="Roboto Light"/>
              </a:defRPr>
            </a:lvl3pPr>
            <a:lvl4pPr marL="1828800" marR="0" lvl="3"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Roboto Light"/>
                <a:ea typeface="Roboto Light"/>
                <a:cs typeface="Roboto Light"/>
                <a:sym typeface="Roboto Light"/>
              </a:defRPr>
            </a:lvl4pPr>
            <a:lvl5pPr marL="2286000" marR="0" lvl="4"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Roboto Light"/>
                <a:ea typeface="Roboto Light"/>
                <a:cs typeface="Roboto Light"/>
                <a:sym typeface="Robot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Divider (plain)">
  <p:cSld name="Agenda Divider (plain)">
    <p:spTree>
      <p:nvGrpSpPr>
        <p:cNvPr id="1" name="Shape 57"/>
        <p:cNvGrpSpPr/>
        <p:nvPr/>
      </p:nvGrpSpPr>
      <p:grpSpPr>
        <a:xfrm>
          <a:off x="0" y="0"/>
          <a:ext cx="0" cy="0"/>
          <a:chOff x="0" y="0"/>
          <a:chExt cx="0" cy="0"/>
        </a:xfrm>
      </p:grpSpPr>
      <p:sp>
        <p:nvSpPr>
          <p:cNvPr id="58" name="Google Shape;58;p5"/>
          <p:cNvSpPr/>
          <p:nvPr/>
        </p:nvSpPr>
        <p:spPr>
          <a:xfrm>
            <a:off x="740568" y="0"/>
            <a:ext cx="11451432" cy="24669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Light"/>
              <a:ea typeface="Roboto Light"/>
              <a:cs typeface="Roboto Light"/>
              <a:sym typeface="Roboto Light"/>
            </a:endParaRPr>
          </a:p>
        </p:txBody>
      </p:sp>
      <p:sp>
        <p:nvSpPr>
          <p:cNvPr id="59" name="Google Shape;59;p5"/>
          <p:cNvSpPr txBox="1">
            <a:spLocks noGrp="1"/>
          </p:cNvSpPr>
          <p:nvPr>
            <p:ph type="title"/>
          </p:nvPr>
        </p:nvSpPr>
        <p:spPr>
          <a:xfrm>
            <a:off x="1162050" y="400050"/>
            <a:ext cx="2305050" cy="97155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rgbClr val="000005"/>
              </a:buClr>
              <a:buSzPts val="8300"/>
              <a:buFont typeface="Roboto Light"/>
              <a:buNone/>
              <a:defRPr sz="8300" b="0" i="0" u="none" strike="noStrike" cap="none">
                <a:solidFill>
                  <a:srgbClr val="000005"/>
                </a:solidFill>
                <a:latin typeface="Roboto Light"/>
                <a:ea typeface="Roboto Light"/>
                <a:cs typeface="Roboto Light"/>
                <a:sym typeface="Roboto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5"/>
          <p:cNvSpPr txBox="1">
            <a:spLocks noGrp="1"/>
          </p:cNvSpPr>
          <p:nvPr>
            <p:ph type="body" idx="1"/>
          </p:nvPr>
        </p:nvSpPr>
        <p:spPr>
          <a:xfrm>
            <a:off x="1201738" y="3122612"/>
            <a:ext cx="5516562" cy="2516187"/>
          </a:xfrm>
          <a:prstGeom prst="rect">
            <a:avLst/>
          </a:prstGeom>
          <a:noFill/>
          <a:ln>
            <a:noFill/>
          </a:ln>
        </p:spPr>
        <p:txBody>
          <a:bodyPr spcFirstLastPara="1" wrap="square" lIns="0" tIns="0" rIns="91425" bIns="45700" anchor="t" anchorCtr="0">
            <a:noAutofit/>
          </a:bodyPr>
          <a:lstStyle>
            <a:lvl1pPr marL="457200" marR="0" lvl="0" indent="-228600" algn="l" rtl="0">
              <a:lnSpc>
                <a:spcPct val="100000"/>
              </a:lnSpc>
              <a:spcBef>
                <a:spcPts val="1000"/>
              </a:spcBef>
              <a:spcAft>
                <a:spcPts val="0"/>
              </a:spcAft>
              <a:buClr>
                <a:srgbClr val="000005"/>
              </a:buClr>
              <a:buSzPts val="2400"/>
              <a:buFont typeface="Arial"/>
              <a:buNone/>
              <a:defRPr sz="2400" b="0" i="0" u="none" strike="noStrike" cap="none">
                <a:solidFill>
                  <a:srgbClr val="000005"/>
                </a:solidFill>
                <a:latin typeface="Roboto Medium"/>
                <a:ea typeface="Roboto Medium"/>
                <a:cs typeface="Roboto Medium"/>
                <a:sym typeface="Roboto Medium"/>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Roboto"/>
                <a:ea typeface="Roboto"/>
                <a:cs typeface="Roboto"/>
                <a:sym typeface="Roboto"/>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Roboto"/>
                <a:ea typeface="Roboto"/>
                <a:cs typeface="Roboto"/>
                <a:sym typeface="Roboto"/>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Roboto"/>
                <a:ea typeface="Roboto"/>
                <a:cs typeface="Roboto"/>
                <a:sym typeface="Roboto"/>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Roboto"/>
                <a:ea typeface="Roboto"/>
                <a:cs typeface="Roboto"/>
                <a:sym typeface="Roboto"/>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Roboto Light"/>
                <a:ea typeface="Roboto Light"/>
                <a:cs typeface="Roboto Light"/>
                <a:sym typeface="Roboto Light"/>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Roboto Light"/>
                <a:ea typeface="Roboto Light"/>
                <a:cs typeface="Roboto Light"/>
                <a:sym typeface="Roboto Light"/>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Roboto Light"/>
                <a:ea typeface="Roboto Light"/>
                <a:cs typeface="Roboto Light"/>
                <a:sym typeface="Roboto Light"/>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Roboto Light"/>
                <a:ea typeface="Roboto Light"/>
                <a:cs typeface="Roboto Light"/>
                <a:sym typeface="Roboto Ligh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sclaimer">
  <p:cSld name="Disclaimer">
    <p:spTree>
      <p:nvGrpSpPr>
        <p:cNvPr id="1" name="Shape 61"/>
        <p:cNvGrpSpPr/>
        <p:nvPr/>
      </p:nvGrpSpPr>
      <p:grpSpPr>
        <a:xfrm>
          <a:off x="0" y="0"/>
          <a:ext cx="0" cy="0"/>
          <a:chOff x="0" y="0"/>
          <a:chExt cx="0" cy="0"/>
        </a:xfrm>
      </p:grpSpPr>
      <p:sp>
        <p:nvSpPr>
          <p:cNvPr id="62" name="Google Shape;62;p6"/>
          <p:cNvSpPr/>
          <p:nvPr/>
        </p:nvSpPr>
        <p:spPr>
          <a:xfrm>
            <a:off x="177800" y="6223000"/>
            <a:ext cx="336550" cy="299969"/>
          </a:xfrm>
          <a:prstGeom prst="rect">
            <a:avLst/>
          </a:prstGeom>
          <a:solidFill>
            <a:srgbClr val="00000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Light"/>
              <a:ea typeface="Roboto Light"/>
              <a:cs typeface="Roboto Light"/>
              <a:sym typeface="Roboto Light"/>
            </a:endParaRPr>
          </a:p>
        </p:txBody>
      </p:sp>
      <p:sp>
        <p:nvSpPr>
          <p:cNvPr id="63" name="Google Shape;63;p6"/>
          <p:cNvSpPr/>
          <p:nvPr/>
        </p:nvSpPr>
        <p:spPr>
          <a:xfrm>
            <a:off x="3631660" y="4792494"/>
            <a:ext cx="8045990" cy="1730475"/>
          </a:xfrm>
          <a:prstGeom prst="rect">
            <a:avLst/>
          </a:prstGeom>
          <a:noFill/>
          <a:ln>
            <a:noFill/>
          </a:ln>
        </p:spPr>
        <p:txBody>
          <a:bodyPr spcFirstLastPara="1" wrap="square" lIns="0" tIns="45700" rIns="91425" bIns="45700" anchor="b" anchorCtr="0">
            <a:noAutofit/>
          </a:bodyPr>
          <a:lstStyle/>
          <a:p>
            <a:pPr marL="0" marR="0" lvl="0" indent="0" algn="just" rtl="0">
              <a:lnSpc>
                <a:spcPct val="100000"/>
              </a:lnSpc>
              <a:spcBef>
                <a:spcPts val="0"/>
              </a:spcBef>
              <a:spcAft>
                <a:spcPts val="0"/>
              </a:spcAft>
              <a:buNone/>
            </a:pPr>
            <a:r>
              <a:rPr lang="en-AU" sz="1000" b="0">
                <a:solidFill>
                  <a:srgbClr val="736D67"/>
                </a:solidFill>
                <a:latin typeface="Roboto Medium"/>
                <a:ea typeface="Roboto Medium"/>
                <a:cs typeface="Roboto Medium"/>
                <a:sym typeface="Roboto Medium"/>
              </a:rPr>
              <a:t>Disclaimer: </a:t>
            </a:r>
            <a:r>
              <a:rPr lang="en-AU" sz="1000" b="0">
                <a:solidFill>
                  <a:srgbClr val="736D67"/>
                </a:solidFill>
                <a:latin typeface="Roboto Light"/>
                <a:ea typeface="Roboto Light"/>
                <a:cs typeface="Roboto Light"/>
                <a:sym typeface="Roboto Light"/>
              </a:rPr>
              <a:t>This document comprises, and is the subject of intellectual property (including copyright) and confidentiality rights of one or multiple owners, including The Quantium Group Pty Limited and its affiliates (</a:t>
            </a:r>
            <a:r>
              <a:rPr lang="en-AU" sz="1000" b="0">
                <a:solidFill>
                  <a:srgbClr val="736D67"/>
                </a:solidFill>
                <a:latin typeface="Roboto Medium"/>
                <a:ea typeface="Roboto Medium"/>
                <a:cs typeface="Roboto Medium"/>
                <a:sym typeface="Roboto Medium"/>
              </a:rPr>
              <a:t>Quantium</a:t>
            </a:r>
            <a:r>
              <a:rPr lang="en-AU" sz="1000" b="0">
                <a:solidFill>
                  <a:srgbClr val="736D67"/>
                </a:solidFill>
                <a:latin typeface="Roboto Light"/>
                <a:ea typeface="Roboto Light"/>
                <a:cs typeface="Roboto Light"/>
                <a:sym typeface="Roboto Light"/>
              </a:rPr>
              <a:t>) and where applicable, its third-party data owners (</a:t>
            </a:r>
            <a:r>
              <a:rPr lang="en-AU" sz="1000" b="0">
                <a:solidFill>
                  <a:srgbClr val="736D67"/>
                </a:solidFill>
                <a:latin typeface="Roboto Medium"/>
                <a:ea typeface="Roboto Medium"/>
                <a:cs typeface="Roboto Medium"/>
                <a:sym typeface="Roboto Medium"/>
              </a:rPr>
              <a:t>Data Providers</a:t>
            </a:r>
            <a:r>
              <a:rPr lang="en-AU" sz="1000" b="0">
                <a:solidFill>
                  <a:srgbClr val="736D67"/>
                </a:solidFill>
                <a:latin typeface="Roboto Light"/>
                <a:ea typeface="Roboto Light"/>
                <a:cs typeface="Roboto Light"/>
                <a:sym typeface="Roboto Light"/>
              </a:rPr>
              <a:t>), together (</a:t>
            </a:r>
            <a:r>
              <a:rPr lang="en-AU" sz="1000" b="0">
                <a:solidFill>
                  <a:srgbClr val="736D67"/>
                </a:solidFill>
                <a:latin typeface="Roboto Medium"/>
                <a:ea typeface="Roboto Medium"/>
                <a:cs typeface="Roboto Medium"/>
                <a:sym typeface="Roboto Medium"/>
              </a:rPr>
              <a:t>IP Owners</a:t>
            </a:r>
            <a:r>
              <a:rPr lang="en-AU" sz="1000" b="0">
                <a:solidFill>
                  <a:srgbClr val="736D67"/>
                </a:solidFill>
                <a:latin typeface="Roboto Light"/>
                <a:ea typeface="Roboto Light"/>
                <a:cs typeface="Roboto Light"/>
                <a:sym typeface="Roboto Light"/>
              </a:rPr>
              <a:t>). The information contained in this </a:t>
            </a:r>
            <a:r>
              <a:rPr lang="en-AU" sz="1000">
                <a:solidFill>
                  <a:srgbClr val="736D67"/>
                </a:solidFill>
                <a:latin typeface="Roboto Light"/>
                <a:ea typeface="Roboto Light"/>
                <a:cs typeface="Roboto Light"/>
                <a:sym typeface="Roboto Light"/>
              </a:rPr>
              <a:t>document </a:t>
            </a:r>
            <a:r>
              <a:rPr lang="en-AU" sz="1000" b="0">
                <a:solidFill>
                  <a:srgbClr val="736D67"/>
                </a:solidFill>
                <a:latin typeface="Roboto Light"/>
                <a:ea typeface="Roboto Light"/>
                <a:cs typeface="Roboto Light"/>
                <a:sym typeface="Roboto Light"/>
              </a:rPr>
              <a:t>may have been prepared using raw data owned by the Data Providers. The Data Providers have not been involved in the analysis of the raw data, the preparation of, or the information contained in the </a:t>
            </a:r>
            <a:r>
              <a:rPr lang="en-AU" sz="1000">
                <a:solidFill>
                  <a:srgbClr val="736D67"/>
                </a:solidFill>
                <a:latin typeface="Roboto Light"/>
                <a:ea typeface="Roboto Light"/>
                <a:cs typeface="Roboto Light"/>
                <a:sym typeface="Roboto Light"/>
              </a:rPr>
              <a:t>document. </a:t>
            </a:r>
            <a:r>
              <a:rPr lang="en-AU" sz="1000" b="0">
                <a:solidFill>
                  <a:srgbClr val="736D67"/>
                </a:solidFill>
                <a:latin typeface="Roboto Light"/>
                <a:ea typeface="Roboto Light"/>
                <a:cs typeface="Roboto Light"/>
                <a:sym typeface="Roboto Light"/>
              </a:rPr>
              <a:t>The IP Owners do not make any representation (express or implied), nor give any guarantee or warranty in relation to the accuracy, completeness or appropriateness of the raw data, nor the analysis contained in this </a:t>
            </a:r>
            <a:r>
              <a:rPr lang="en-AU" sz="1000">
                <a:solidFill>
                  <a:srgbClr val="736D67"/>
                </a:solidFill>
                <a:latin typeface="Roboto Light"/>
                <a:ea typeface="Roboto Light"/>
                <a:cs typeface="Roboto Light"/>
                <a:sym typeface="Roboto Light"/>
              </a:rPr>
              <a:t>document. </a:t>
            </a:r>
            <a:r>
              <a:rPr lang="en-AU" sz="1000" b="0">
                <a:solidFill>
                  <a:srgbClr val="736D67"/>
                </a:solidFill>
                <a:latin typeface="Roboto Light"/>
                <a:ea typeface="Roboto Light"/>
                <a:cs typeface="Roboto Light"/>
                <a:sym typeface="Roboto Light"/>
              </a:rPr>
              <a:t>None of the IP Owners will have any liability for any use or disclosure by the recipient of any information contained in, or derived from this </a:t>
            </a:r>
            <a:r>
              <a:rPr lang="en-AU" sz="1000">
                <a:solidFill>
                  <a:srgbClr val="736D67"/>
                </a:solidFill>
                <a:latin typeface="Roboto Light"/>
                <a:ea typeface="Roboto Light"/>
                <a:cs typeface="Roboto Light"/>
                <a:sym typeface="Roboto Light"/>
              </a:rPr>
              <a:t>document. </a:t>
            </a:r>
            <a:r>
              <a:rPr lang="en-AU" sz="1000" b="0">
                <a:solidFill>
                  <a:srgbClr val="736D67"/>
                </a:solidFill>
                <a:latin typeface="Roboto Light"/>
                <a:ea typeface="Roboto Light"/>
                <a:cs typeface="Roboto Light"/>
                <a:sym typeface="Roboto Light"/>
              </a:rPr>
              <a:t>To the maximum extent permitted by law, the IP Owners expressly disclaim, take no responsibility for and have no liability for the preparation, contents, accuracy or completeness of this </a:t>
            </a:r>
            <a:r>
              <a:rPr lang="en-AU" sz="1000">
                <a:solidFill>
                  <a:srgbClr val="736D67"/>
                </a:solidFill>
                <a:latin typeface="Roboto Light"/>
                <a:ea typeface="Roboto Light"/>
                <a:cs typeface="Roboto Light"/>
                <a:sym typeface="Roboto Light"/>
              </a:rPr>
              <a:t>document, </a:t>
            </a:r>
            <a:r>
              <a:rPr lang="en-AU" sz="1000" b="0">
                <a:solidFill>
                  <a:srgbClr val="736D67"/>
                </a:solidFill>
                <a:latin typeface="Roboto Light"/>
                <a:ea typeface="Roboto Light"/>
                <a:cs typeface="Roboto Light"/>
                <a:sym typeface="Roboto Light"/>
              </a:rPr>
              <a:t>nor the analysis on which it is based. This </a:t>
            </a:r>
            <a:r>
              <a:rPr lang="en-AU" sz="1000">
                <a:solidFill>
                  <a:srgbClr val="736D67"/>
                </a:solidFill>
                <a:latin typeface="Roboto Light"/>
                <a:ea typeface="Roboto Light"/>
                <a:cs typeface="Roboto Light"/>
                <a:sym typeface="Roboto Light"/>
              </a:rPr>
              <a:t>document </a:t>
            </a:r>
            <a:r>
              <a:rPr lang="en-AU" sz="1000" b="0">
                <a:solidFill>
                  <a:srgbClr val="736D67"/>
                </a:solidFill>
                <a:latin typeface="Roboto Light"/>
                <a:ea typeface="Roboto Light"/>
                <a:cs typeface="Roboto Light"/>
                <a:sym typeface="Roboto Light"/>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sz="1000" b="0">
              <a:solidFill>
                <a:srgbClr val="736D67"/>
              </a:solidFill>
              <a:latin typeface="Roboto Light"/>
              <a:ea typeface="Roboto Light"/>
              <a:cs typeface="Roboto Light"/>
              <a:sym typeface="Roboto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1" y="0"/>
            <a:ext cx="740979"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1" name="Google Shape;11;p1"/>
          <p:cNvSpPr txBox="1"/>
          <p:nvPr/>
        </p:nvSpPr>
        <p:spPr>
          <a:xfrm>
            <a:off x="127000" y="6239658"/>
            <a:ext cx="457200" cy="3651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AU" sz="1400" b="0" i="0" u="none" strike="noStrike" cap="none">
                <a:solidFill>
                  <a:srgbClr val="FFFFFF"/>
                </a:solidFill>
                <a:latin typeface="Roboto"/>
                <a:ea typeface="Roboto"/>
                <a:cs typeface="Roboto"/>
                <a:sym typeface="Roboto"/>
              </a:rPr>
              <a:t>‹#›</a:t>
            </a:fld>
            <a:endParaRPr sz="1400" b="0" i="0" u="none" strike="noStrike" cap="none">
              <a:solidFill>
                <a:srgbClr val="FFFFFF"/>
              </a:solidFill>
              <a:latin typeface="Roboto"/>
              <a:ea typeface="Roboto"/>
              <a:cs typeface="Roboto"/>
              <a:sym typeface="Roboto"/>
            </a:endParaRPr>
          </a:p>
        </p:txBody>
      </p:sp>
      <p:sp>
        <p:nvSpPr>
          <p:cNvPr id="12" name="Google Shape;12;p1"/>
          <p:cNvSpPr/>
          <p:nvPr/>
        </p:nvSpPr>
        <p:spPr>
          <a:xfrm>
            <a:off x="-394521" y="473749"/>
            <a:ext cx="229577" cy="229577"/>
          </a:xfrm>
          <a:prstGeom prst="ellipse">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3" name="Google Shape;13;p1"/>
          <p:cNvSpPr/>
          <p:nvPr/>
        </p:nvSpPr>
        <p:spPr>
          <a:xfrm>
            <a:off x="-394521" y="783791"/>
            <a:ext cx="229577" cy="229577"/>
          </a:xfrm>
          <a:prstGeom prst="ellipse">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4" name="Google Shape;14;p1"/>
          <p:cNvSpPr/>
          <p:nvPr/>
        </p:nvSpPr>
        <p:spPr>
          <a:xfrm>
            <a:off x="-394521" y="1093833"/>
            <a:ext cx="229577" cy="229577"/>
          </a:xfrm>
          <a:prstGeom prst="ellipse">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5" name="Google Shape;15;p1"/>
          <p:cNvSpPr/>
          <p:nvPr/>
        </p:nvSpPr>
        <p:spPr>
          <a:xfrm>
            <a:off x="-394521" y="1403875"/>
            <a:ext cx="229577" cy="229577"/>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6" name="Google Shape;16;p1"/>
          <p:cNvSpPr/>
          <p:nvPr/>
        </p:nvSpPr>
        <p:spPr>
          <a:xfrm>
            <a:off x="-394521" y="2334001"/>
            <a:ext cx="229577" cy="22957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7" name="Google Shape;17;p1"/>
          <p:cNvSpPr/>
          <p:nvPr/>
        </p:nvSpPr>
        <p:spPr>
          <a:xfrm>
            <a:off x="-394521" y="1713917"/>
            <a:ext cx="229577" cy="22957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8" name="Google Shape;18;p1"/>
          <p:cNvSpPr/>
          <p:nvPr/>
        </p:nvSpPr>
        <p:spPr>
          <a:xfrm>
            <a:off x="-394521" y="2023959"/>
            <a:ext cx="229577" cy="229577"/>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19" name="Google Shape;19;p1"/>
          <p:cNvSpPr/>
          <p:nvPr/>
        </p:nvSpPr>
        <p:spPr>
          <a:xfrm>
            <a:off x="-394521" y="2644043"/>
            <a:ext cx="229577" cy="22957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0" name="Google Shape;20;p1"/>
          <p:cNvSpPr/>
          <p:nvPr/>
        </p:nvSpPr>
        <p:spPr>
          <a:xfrm>
            <a:off x="-394521" y="3802925"/>
            <a:ext cx="230400" cy="230400"/>
          </a:xfrm>
          <a:prstGeom prst="ellipse">
            <a:avLst/>
          </a:prstGeom>
          <a:solidFill>
            <a:srgbClr val="3F68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1" name="Google Shape;21;p1"/>
          <p:cNvSpPr/>
          <p:nvPr/>
        </p:nvSpPr>
        <p:spPr>
          <a:xfrm>
            <a:off x="-394521" y="4113790"/>
            <a:ext cx="230400" cy="230400"/>
          </a:xfrm>
          <a:prstGeom prst="ellipse">
            <a:avLst/>
          </a:prstGeom>
          <a:solidFill>
            <a:srgbClr val="44B5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2" name="Google Shape;22;p1"/>
          <p:cNvSpPr/>
          <p:nvPr/>
        </p:nvSpPr>
        <p:spPr>
          <a:xfrm>
            <a:off x="-394521" y="4424655"/>
            <a:ext cx="230400" cy="230400"/>
          </a:xfrm>
          <a:prstGeom prst="ellipse">
            <a:avLst/>
          </a:prstGeom>
          <a:solidFill>
            <a:srgbClr val="44D6A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3" name="Google Shape;23;p1"/>
          <p:cNvSpPr/>
          <p:nvPr/>
        </p:nvSpPr>
        <p:spPr>
          <a:xfrm>
            <a:off x="-394521" y="4735520"/>
            <a:ext cx="230400" cy="230400"/>
          </a:xfrm>
          <a:prstGeom prst="ellipse">
            <a:avLst/>
          </a:prstGeom>
          <a:solidFill>
            <a:srgbClr val="7FDD7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4" name="Google Shape;24;p1"/>
          <p:cNvSpPr/>
          <p:nvPr/>
        </p:nvSpPr>
        <p:spPr>
          <a:xfrm>
            <a:off x="-394521" y="5046385"/>
            <a:ext cx="230400" cy="230400"/>
          </a:xfrm>
          <a:prstGeom prst="ellipse">
            <a:avLst/>
          </a:prstGeom>
          <a:solidFill>
            <a:srgbClr val="EACC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5" name="Google Shape;25;p1"/>
          <p:cNvSpPr/>
          <p:nvPr/>
        </p:nvSpPr>
        <p:spPr>
          <a:xfrm>
            <a:off x="-394521" y="5357250"/>
            <a:ext cx="230400" cy="230400"/>
          </a:xfrm>
          <a:prstGeom prst="ellipse">
            <a:avLst/>
          </a:prstGeom>
          <a:solidFill>
            <a:srgbClr val="EF9B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6" name="Google Shape;26;p1"/>
          <p:cNvSpPr/>
          <p:nvPr/>
        </p:nvSpPr>
        <p:spPr>
          <a:xfrm>
            <a:off x="-394521" y="5668115"/>
            <a:ext cx="230400" cy="230400"/>
          </a:xfrm>
          <a:prstGeom prst="ellipse">
            <a:avLst/>
          </a:prstGeom>
          <a:solidFill>
            <a:srgbClr val="EF63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7" name="Google Shape;27;p1"/>
          <p:cNvSpPr/>
          <p:nvPr/>
        </p:nvSpPr>
        <p:spPr>
          <a:xfrm>
            <a:off x="-394521" y="5978980"/>
            <a:ext cx="230400" cy="230400"/>
          </a:xfrm>
          <a:prstGeom prst="ellipse">
            <a:avLst/>
          </a:prstGeom>
          <a:solidFill>
            <a:srgbClr val="C9637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8" name="Google Shape;28;p1"/>
          <p:cNvSpPr/>
          <p:nvPr/>
        </p:nvSpPr>
        <p:spPr>
          <a:xfrm>
            <a:off x="-394521" y="6289840"/>
            <a:ext cx="230400" cy="230400"/>
          </a:xfrm>
          <a:prstGeom prst="ellipse">
            <a:avLst/>
          </a:prstGeom>
          <a:solidFill>
            <a:srgbClr val="8E72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Light"/>
              <a:ea typeface="Roboto Light"/>
              <a:cs typeface="Roboto Light"/>
              <a:sym typeface="Roboto Light"/>
            </a:endParaRPr>
          </a:p>
        </p:txBody>
      </p:sp>
      <p:sp>
        <p:nvSpPr>
          <p:cNvPr id="29" name="Google Shape;29;p1"/>
          <p:cNvSpPr/>
          <p:nvPr/>
        </p:nvSpPr>
        <p:spPr>
          <a:xfrm>
            <a:off x="1206500" y="6209380"/>
            <a:ext cx="1422400" cy="360045"/>
          </a:xfrm>
          <a:custGeom>
            <a:avLst/>
            <a:gdLst/>
            <a:ahLst/>
            <a:cxnLst/>
            <a:rect l="l" t="t" r="r" b="b"/>
            <a:pathLst>
              <a:path w="7680" h="1944" extrusionOk="0">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Roboto Light"/>
              <a:ea typeface="Roboto Light"/>
              <a:cs typeface="Roboto Light"/>
              <a:sym typeface="Roboto Light"/>
            </a:endParaRPr>
          </a:p>
        </p:txBody>
      </p:sp>
      <p:sp>
        <p:nvSpPr>
          <p:cNvPr id="30" name="Google Shape;30;p1" descr="{&quot;HashCode&quot;:-231024771,&quot;Placement&quot;:&quot;Footer&quot;}"/>
          <p:cNvSpPr txBox="1"/>
          <p:nvPr/>
        </p:nvSpPr>
        <p:spPr>
          <a:xfrm>
            <a:off x="5263052" y="6595656"/>
            <a:ext cx="1665897" cy="262344"/>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AU" sz="1000">
                <a:solidFill>
                  <a:srgbClr val="000000"/>
                </a:solidFill>
                <a:latin typeface="Calibri"/>
                <a:ea typeface="Calibri"/>
                <a:cs typeface="Calibri"/>
                <a:sym typeface="Calibri"/>
              </a:rPr>
              <a:t>Classification: Confidential</a:t>
            </a:r>
            <a:endParaRPr sz="1000">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356">
          <p15:clr>
            <a:srgbClr val="5ACBF0"/>
          </p15:clr>
        </p15:guide>
        <p15:guide id="2" orient="horz" pos="3793">
          <p15:clr>
            <a:srgbClr val="5ACBF0"/>
          </p15:clr>
        </p15:guide>
        <p15:guide id="3" orient="horz" pos="315">
          <p15:clr>
            <a:srgbClr val="5ACBF0"/>
          </p15:clr>
        </p15:guide>
        <p15:guide id="4" pos="760">
          <p15:clr>
            <a:srgbClr val="5ACBF0"/>
          </p15:clr>
        </p15:guide>
        <p15:guide id="5" orient="horz" pos="822">
          <p15:clr>
            <a:srgbClr val="FBAE40"/>
          </p15:clr>
        </p15:guide>
        <p15:guide id="6" pos="4067">
          <p15:clr>
            <a:srgbClr val="FBAE4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7"/>
          <p:cNvSpPr txBox="1">
            <a:spLocks noGrp="1"/>
          </p:cNvSpPr>
          <p:nvPr>
            <p:ph type="ctrTitle"/>
          </p:nvPr>
        </p:nvSpPr>
        <p:spPr>
          <a:xfrm>
            <a:off x="1212852" y="1537494"/>
            <a:ext cx="4086224" cy="2387600"/>
          </a:xfrm>
          <a:prstGeom prst="rect">
            <a:avLst/>
          </a:prstGeom>
          <a:noFill/>
          <a:ln>
            <a:noFill/>
          </a:ln>
        </p:spPr>
        <p:txBody>
          <a:bodyPr spcFirstLastPara="1" wrap="square" lIns="0" tIns="45700" rIns="91425" bIns="45700" anchor="b" anchorCtr="0">
            <a:noAutofit/>
          </a:bodyPr>
          <a:lstStyle/>
          <a:p>
            <a:pPr marL="0" lvl="0" indent="0" algn="l" rtl="0">
              <a:lnSpc>
                <a:spcPct val="100000"/>
              </a:lnSpc>
              <a:spcBef>
                <a:spcPts val="0"/>
              </a:spcBef>
              <a:spcAft>
                <a:spcPts val="0"/>
              </a:spcAft>
              <a:buClr>
                <a:srgbClr val="000005"/>
              </a:buClr>
              <a:buSzPts val="2700"/>
              <a:buFont typeface="Roboto Medium"/>
              <a:buNone/>
            </a:pPr>
            <a:r>
              <a:rPr lang="en-AU" dirty="0"/>
              <a:t>Category review: Chips</a:t>
            </a:r>
            <a:endParaRPr dirty="0"/>
          </a:p>
        </p:txBody>
      </p:sp>
      <p:sp>
        <p:nvSpPr>
          <p:cNvPr id="69" name="Google Shape;69;p7"/>
          <p:cNvSpPr txBox="1">
            <a:spLocks noGrp="1"/>
          </p:cNvSpPr>
          <p:nvPr>
            <p:ph type="subTitle" idx="1"/>
          </p:nvPr>
        </p:nvSpPr>
        <p:spPr>
          <a:xfrm>
            <a:off x="1212851" y="4126706"/>
            <a:ext cx="4086224" cy="1236662"/>
          </a:xfrm>
          <a:prstGeom prst="rect">
            <a:avLst/>
          </a:prstGeom>
          <a:noFill/>
          <a:ln>
            <a:noFill/>
          </a:ln>
        </p:spPr>
        <p:txBody>
          <a:bodyPr spcFirstLastPara="1" wrap="square" lIns="0" tIns="45700" rIns="91425" bIns="45700" anchor="t" anchorCtr="0">
            <a:noAutofit/>
          </a:bodyPr>
          <a:lstStyle/>
          <a:p>
            <a:pPr marL="0" lvl="0" indent="0" algn="l" rtl="0">
              <a:lnSpc>
                <a:spcPct val="100000"/>
              </a:lnSpc>
              <a:spcBef>
                <a:spcPts val="0"/>
              </a:spcBef>
              <a:spcAft>
                <a:spcPts val="0"/>
              </a:spcAft>
              <a:buClr>
                <a:srgbClr val="000005"/>
              </a:buClr>
              <a:buSzPts val="1800"/>
              <a:buNone/>
            </a:pPr>
            <a:r>
              <a:rPr lang="en-AU" dirty="0"/>
              <a:t>Retail Analytics</a:t>
            </a:r>
            <a:endParaRPr dirty="0"/>
          </a:p>
          <a:p>
            <a:pPr marL="0" lvl="0" indent="0" algn="l" rtl="0">
              <a:lnSpc>
                <a:spcPct val="100000"/>
              </a:lnSpc>
              <a:spcBef>
                <a:spcPts val="1000"/>
              </a:spcBef>
              <a:spcAft>
                <a:spcPts val="0"/>
              </a:spcAft>
              <a:buClr>
                <a:srgbClr val="000005"/>
              </a:buClr>
              <a:buSzPts val="1800"/>
              <a:buNone/>
            </a:pPr>
            <a:endParaRPr dirty="0"/>
          </a:p>
        </p:txBody>
      </p:sp>
      <p:grpSp>
        <p:nvGrpSpPr>
          <p:cNvPr id="71" name="Google Shape;71;p7"/>
          <p:cNvGrpSpPr/>
          <p:nvPr/>
        </p:nvGrpSpPr>
        <p:grpSpPr>
          <a:xfrm>
            <a:off x="12294760" y="5621533"/>
            <a:ext cx="1981965" cy="1236467"/>
            <a:chOff x="8857913" y="1025653"/>
            <a:chExt cx="1981965" cy="1236467"/>
          </a:xfrm>
        </p:grpSpPr>
        <p:sp>
          <p:nvSpPr>
            <p:cNvPr id="72" name="Google Shape;72;p7"/>
            <p:cNvSpPr/>
            <p:nvPr/>
          </p:nvSpPr>
          <p:spPr>
            <a:xfrm>
              <a:off x="8857914" y="1025653"/>
              <a:ext cx="1981964" cy="1236467"/>
            </a:xfrm>
            <a:prstGeom prst="rect">
              <a:avLst/>
            </a:prstGeom>
            <a:solidFill>
              <a:srgbClr val="FFFFFF"/>
            </a:solidFill>
            <a:ln w="12700" cap="flat" cmpd="sng">
              <a:solidFill>
                <a:srgbClr val="C7C5C4"/>
              </a:solidFill>
              <a:prstDash val="solid"/>
              <a:miter lim="800000"/>
              <a:headEnd type="none" w="sm" len="sm"/>
              <a:tailEnd type="none" w="sm" len="sm"/>
            </a:ln>
          </p:spPr>
          <p:txBody>
            <a:bodyPr spcFirstLastPara="1" wrap="square" lIns="91425" tIns="468000" rIns="91425" bIns="45700" anchor="t" anchorCtr="0">
              <a:noAutofit/>
            </a:bodyPr>
            <a:lstStyle/>
            <a:p>
              <a:pPr marL="0" marR="0" lvl="0" indent="0" algn="l" rtl="0">
                <a:spcBef>
                  <a:spcPts val="0"/>
                </a:spcBef>
                <a:spcAft>
                  <a:spcPts val="0"/>
                </a:spcAft>
                <a:buNone/>
              </a:pPr>
              <a:r>
                <a:rPr lang="en-AU" sz="1000" dirty="0">
                  <a:solidFill>
                    <a:srgbClr val="EF9B47"/>
                  </a:solidFill>
                  <a:latin typeface="Roboto Medium"/>
                  <a:ea typeface="Roboto Medium"/>
                  <a:cs typeface="Roboto Medium"/>
                  <a:sym typeface="Roboto Medium"/>
                </a:rPr>
                <a:t>Brand note:</a:t>
              </a:r>
              <a:r>
                <a:rPr lang="en-AU" sz="1000" dirty="0">
                  <a:solidFill>
                    <a:srgbClr val="000005"/>
                  </a:solidFill>
                  <a:latin typeface="Roboto Light"/>
                  <a:ea typeface="Roboto Light"/>
                  <a:cs typeface="Roboto Light"/>
                  <a:sym typeface="Roboto Light"/>
                </a:rPr>
                <a:t> If client logo is not required, use alternate title page layout </a:t>
              </a:r>
              <a:r>
                <a:rPr lang="en-AU" sz="1000" dirty="0">
                  <a:solidFill>
                    <a:srgbClr val="000005"/>
                  </a:solidFill>
                  <a:latin typeface="Roboto Medium"/>
                  <a:ea typeface="Roboto Medium"/>
                  <a:cs typeface="Roboto Medium"/>
                  <a:sym typeface="Roboto Medium"/>
                </a:rPr>
                <a:t>right click slide thumbnail </a:t>
              </a:r>
              <a:r>
                <a:rPr lang="en-AU" sz="1000" dirty="0">
                  <a:solidFill>
                    <a:srgbClr val="000005"/>
                  </a:solidFill>
                  <a:latin typeface="Roboto Light"/>
                  <a:ea typeface="Roboto Light"/>
                  <a:cs typeface="Roboto Light"/>
                  <a:sym typeface="Roboto Light"/>
                </a:rPr>
                <a:t>&gt;</a:t>
              </a:r>
              <a:r>
                <a:rPr lang="en-AU" sz="1000" dirty="0">
                  <a:solidFill>
                    <a:srgbClr val="000005"/>
                  </a:solidFill>
                  <a:latin typeface="Roboto Medium"/>
                  <a:ea typeface="Roboto Medium"/>
                  <a:cs typeface="Roboto Medium"/>
                  <a:sym typeface="Roboto Medium"/>
                </a:rPr>
                <a:t> Layout </a:t>
              </a:r>
              <a:r>
                <a:rPr lang="en-AU" sz="1000" dirty="0">
                  <a:solidFill>
                    <a:srgbClr val="000005"/>
                  </a:solidFill>
                  <a:latin typeface="Roboto Light"/>
                  <a:ea typeface="Roboto Light"/>
                  <a:cs typeface="Roboto Light"/>
                  <a:sym typeface="Roboto Light"/>
                </a:rPr>
                <a:t>&gt;</a:t>
              </a:r>
              <a:r>
                <a:rPr lang="en-AU" sz="1000" dirty="0">
                  <a:solidFill>
                    <a:srgbClr val="000005"/>
                  </a:solidFill>
                  <a:latin typeface="Roboto Medium"/>
                  <a:ea typeface="Roboto Medium"/>
                  <a:cs typeface="Roboto Medium"/>
                  <a:sym typeface="Roboto Medium"/>
                </a:rPr>
                <a:t> Title</a:t>
              </a:r>
              <a:endParaRPr sz="1000" dirty="0">
                <a:solidFill>
                  <a:srgbClr val="000005"/>
                </a:solidFill>
                <a:latin typeface="Roboto Medium"/>
                <a:ea typeface="Roboto Medium"/>
                <a:cs typeface="Roboto Medium"/>
                <a:sym typeface="Roboto Medium"/>
              </a:endParaRPr>
            </a:p>
          </p:txBody>
        </p:sp>
        <p:grpSp>
          <p:nvGrpSpPr>
            <p:cNvPr id="73" name="Google Shape;73;p7"/>
            <p:cNvGrpSpPr/>
            <p:nvPr/>
          </p:nvGrpSpPr>
          <p:grpSpPr>
            <a:xfrm>
              <a:off x="8857913" y="1025653"/>
              <a:ext cx="356123" cy="320040"/>
              <a:chOff x="2932" y="1344"/>
              <a:chExt cx="1816" cy="1632"/>
            </a:xfrm>
          </p:grpSpPr>
          <p:sp>
            <p:nvSpPr>
              <p:cNvPr id="74" name="Google Shape;74;p7"/>
              <p:cNvSpPr/>
              <p:nvPr/>
            </p:nvSpPr>
            <p:spPr>
              <a:xfrm>
                <a:off x="2932" y="1344"/>
                <a:ext cx="1806" cy="1622"/>
              </a:xfrm>
              <a:custGeom>
                <a:avLst/>
                <a:gdLst/>
                <a:ahLst/>
                <a:cxnLst/>
                <a:rect l="l" t="t" r="r" b="b"/>
                <a:pathLst>
                  <a:path w="1806" h="1622" extrusionOk="0">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p:spPr>
            <p:txBody>
              <a:bodyPr spcFirstLastPara="1" wrap="square" lIns="90000" tIns="648000" rIns="36000" bIns="45700" anchor="t" anchorCtr="0">
                <a:noAutofit/>
              </a:bodyPr>
              <a:lstStyle/>
              <a:p>
                <a:pPr marL="0" marR="0" lvl="0" indent="0" algn="l" rtl="0">
                  <a:spcBef>
                    <a:spcPts val="0"/>
                  </a:spcBef>
                  <a:spcAft>
                    <a:spcPts val="0"/>
                  </a:spcAft>
                  <a:buNone/>
                </a:pPr>
                <a:endParaRPr sz="1800" dirty="0">
                  <a:solidFill>
                    <a:schemeClr val="dk1"/>
                  </a:solidFill>
                  <a:latin typeface="Roboto Light"/>
                  <a:ea typeface="Roboto Light"/>
                  <a:cs typeface="Roboto Light"/>
                  <a:sym typeface="Roboto Light"/>
                </a:endParaRPr>
              </a:p>
            </p:txBody>
          </p:sp>
          <p:sp>
            <p:nvSpPr>
              <p:cNvPr id="75" name="Google Shape;75;p7"/>
              <p:cNvSpPr/>
              <p:nvPr/>
            </p:nvSpPr>
            <p:spPr>
              <a:xfrm>
                <a:off x="4465" y="2694"/>
                <a:ext cx="283" cy="282"/>
              </a:xfrm>
              <a:custGeom>
                <a:avLst/>
                <a:gdLst/>
                <a:ahLst/>
                <a:cxnLst/>
                <a:rect l="l" t="t" r="r" b="b"/>
                <a:pathLst>
                  <a:path w="283" h="282" extrusionOk="0">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solidFill>
                <a:srgbClr val="C7C5C4"/>
              </a:solidFill>
              <a:ln>
                <a:noFill/>
              </a:ln>
            </p:spPr>
            <p:txBody>
              <a:bodyPr spcFirstLastPara="1" wrap="square" lIns="90000" tIns="648000" rIns="36000" bIns="45700" anchor="t" anchorCtr="0">
                <a:noAutofit/>
              </a:bodyPr>
              <a:lstStyle/>
              <a:p>
                <a:pPr marL="0" marR="0" lvl="0" indent="0" algn="l" rtl="0">
                  <a:spcBef>
                    <a:spcPts val="0"/>
                  </a:spcBef>
                  <a:spcAft>
                    <a:spcPts val="0"/>
                  </a:spcAft>
                  <a:buNone/>
                </a:pPr>
                <a:endParaRPr sz="1800" dirty="0">
                  <a:solidFill>
                    <a:schemeClr val="dk1"/>
                  </a:solidFill>
                  <a:latin typeface="Roboto Light"/>
                  <a:ea typeface="Roboto Light"/>
                  <a:cs typeface="Roboto Light"/>
                  <a:sym typeface="Roboto Light"/>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9"/>
          <p:cNvSpPr txBox="1">
            <a:spLocks noGrp="1"/>
          </p:cNvSpPr>
          <p:nvPr>
            <p:ph type="body" idx="1"/>
          </p:nvPr>
        </p:nvSpPr>
        <p:spPr>
          <a:xfrm>
            <a:off x="1196975" y="453371"/>
            <a:ext cx="10479600" cy="824400"/>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AU" dirty="0"/>
              <a:t>Executive summary</a:t>
            </a:r>
            <a:endParaRPr dirty="0"/>
          </a:p>
        </p:txBody>
      </p:sp>
      <p:sp>
        <p:nvSpPr>
          <p:cNvPr id="86" name="Google Shape;86;p9"/>
          <p:cNvSpPr/>
          <p:nvPr/>
        </p:nvSpPr>
        <p:spPr>
          <a:xfrm>
            <a:off x="1196975" y="1905000"/>
            <a:ext cx="738611" cy="485775"/>
          </a:xfrm>
          <a:prstGeom prst="ellipse">
            <a:avLst/>
          </a:prstGeom>
          <a:solidFill>
            <a:srgbClr val="FFFFFF"/>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800" dirty="0">
                <a:solidFill>
                  <a:srgbClr val="000000"/>
                </a:solidFill>
                <a:latin typeface="Roboto Light"/>
                <a:ea typeface="Roboto Light"/>
                <a:cs typeface="Roboto Light"/>
                <a:sym typeface="Roboto Light"/>
              </a:rPr>
              <a:t>01</a:t>
            </a:r>
            <a:endParaRPr dirty="0"/>
          </a:p>
        </p:txBody>
      </p:sp>
      <p:sp>
        <p:nvSpPr>
          <p:cNvPr id="87" name="Google Shape;87;p9"/>
          <p:cNvSpPr/>
          <p:nvPr/>
        </p:nvSpPr>
        <p:spPr>
          <a:xfrm>
            <a:off x="1196974" y="4190405"/>
            <a:ext cx="738611" cy="485775"/>
          </a:xfrm>
          <a:prstGeom prst="ellipse">
            <a:avLst/>
          </a:prstGeom>
          <a:solidFill>
            <a:srgbClr val="FFFFFF"/>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800" dirty="0">
                <a:solidFill>
                  <a:srgbClr val="000000"/>
                </a:solidFill>
                <a:latin typeface="Roboto Light"/>
                <a:ea typeface="Roboto Light"/>
                <a:cs typeface="Roboto Light"/>
                <a:sym typeface="Roboto Light"/>
              </a:rPr>
              <a:t>02</a:t>
            </a:r>
            <a:endParaRPr sz="1800" dirty="0">
              <a:solidFill>
                <a:srgbClr val="000000"/>
              </a:solidFill>
              <a:latin typeface="Roboto Light"/>
              <a:ea typeface="Roboto Light"/>
              <a:cs typeface="Roboto Light"/>
              <a:sym typeface="Roboto Light"/>
            </a:endParaRPr>
          </a:p>
        </p:txBody>
      </p:sp>
      <p:sp>
        <p:nvSpPr>
          <p:cNvPr id="88" name="Google Shape;88;p9"/>
          <p:cNvSpPr txBox="1"/>
          <p:nvPr/>
        </p:nvSpPr>
        <p:spPr>
          <a:xfrm>
            <a:off x="2014245" y="2043546"/>
            <a:ext cx="1059166" cy="4857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AU" sz="1400" dirty="0">
                <a:solidFill>
                  <a:schemeClr val="dk1"/>
                </a:solidFill>
                <a:latin typeface="Roboto"/>
                <a:ea typeface="Roboto"/>
                <a:cs typeface="Roboto"/>
                <a:sym typeface="Roboto"/>
              </a:rPr>
              <a:t>Task 1</a:t>
            </a:r>
            <a:endParaRPr dirty="0"/>
          </a:p>
        </p:txBody>
      </p:sp>
      <p:sp>
        <p:nvSpPr>
          <p:cNvPr id="89" name="Google Shape;89;p9"/>
          <p:cNvSpPr txBox="1"/>
          <p:nvPr/>
        </p:nvSpPr>
        <p:spPr>
          <a:xfrm>
            <a:off x="2014246" y="4338466"/>
            <a:ext cx="1059165" cy="4857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AU" sz="1400" dirty="0">
                <a:solidFill>
                  <a:schemeClr val="dk1"/>
                </a:solidFill>
                <a:latin typeface="Roboto"/>
                <a:ea typeface="Roboto"/>
                <a:cs typeface="Roboto"/>
                <a:sym typeface="Roboto"/>
              </a:rPr>
              <a:t>Task 2</a:t>
            </a:r>
            <a:endParaRPr sz="1400" dirty="0">
              <a:solidFill>
                <a:schemeClr val="dk1"/>
              </a:solidFill>
              <a:latin typeface="Roboto"/>
              <a:ea typeface="Roboto"/>
              <a:cs typeface="Roboto"/>
              <a:sym typeface="Roboto"/>
            </a:endParaRPr>
          </a:p>
        </p:txBody>
      </p:sp>
      <p:sp>
        <p:nvSpPr>
          <p:cNvPr id="90" name="Google Shape;90;p9"/>
          <p:cNvSpPr txBox="1"/>
          <p:nvPr/>
        </p:nvSpPr>
        <p:spPr>
          <a:xfrm>
            <a:off x="3500035" y="1692049"/>
            <a:ext cx="7494990" cy="2403530"/>
          </a:xfrm>
          <a:prstGeom prst="rect">
            <a:avLst/>
          </a:prstGeom>
          <a:noFill/>
          <a:ln>
            <a:noFill/>
          </a:ln>
        </p:spPr>
        <p:txBody>
          <a:bodyPr spcFirstLastPara="1" wrap="square" lIns="0" tIns="0" rIns="0" bIns="0" anchor="t" anchorCtr="0">
            <a:noAutofit/>
          </a:bodyPr>
          <a:lstStyle/>
          <a:p>
            <a:pPr>
              <a:buFont typeface="Arial" panose="020B0604020202020204" pitchFamily="34" charset="0"/>
              <a:buChar char="•"/>
            </a:pPr>
            <a:r>
              <a:rPr lang="en-US" sz="1600" dirty="0"/>
              <a:t>Customer behavior analysis shows clear differences across life-stage and affluence segments.</a:t>
            </a:r>
          </a:p>
          <a:p>
            <a:pPr>
              <a:buFont typeface="Arial" panose="020B0604020202020204" pitchFamily="34" charset="0"/>
              <a:buChar char="•"/>
            </a:pPr>
            <a:r>
              <a:rPr lang="en-US" sz="1600" dirty="0"/>
              <a:t>“Older Families” and “Young Families” purchase chips more frequently and spend significantly more per trip than other life-stages.</a:t>
            </a:r>
          </a:p>
          <a:p>
            <a:pPr>
              <a:buFont typeface="Arial" panose="020B0604020202020204" pitchFamily="34" charset="0"/>
              <a:buChar char="•"/>
            </a:pPr>
            <a:r>
              <a:rPr lang="en-US" sz="1600" dirty="0"/>
              <a:t>“Mainstream” and “Budget” customers account for the highest overall volume, while “Premium” customers contribute disproportionately to revenue due to higher spend per unit.</a:t>
            </a:r>
          </a:p>
          <a:p>
            <a:pPr>
              <a:buFont typeface="Arial" panose="020B0604020202020204" pitchFamily="34" charset="0"/>
              <a:buChar char="•"/>
            </a:pPr>
            <a:r>
              <a:rPr lang="en-US" sz="1600" dirty="0"/>
              <a:t>These patterns highlight strong opportunities to target high-value segments through tailored promotions and pack-size strategies.</a:t>
            </a:r>
          </a:p>
        </p:txBody>
      </p:sp>
      <p:sp>
        <p:nvSpPr>
          <p:cNvPr id="91" name="Google Shape;91;p9"/>
          <p:cNvSpPr txBox="1"/>
          <p:nvPr/>
        </p:nvSpPr>
        <p:spPr>
          <a:xfrm>
            <a:off x="3500035" y="4190405"/>
            <a:ext cx="7580989" cy="1718742"/>
          </a:xfrm>
          <a:prstGeom prst="rect">
            <a:avLst/>
          </a:prstGeom>
          <a:noFill/>
          <a:ln>
            <a:noFill/>
          </a:ln>
        </p:spPr>
        <p:txBody>
          <a:bodyPr spcFirstLastPara="1" wrap="square" lIns="0" tIns="0" rIns="0" bIns="0" anchor="t" anchorCtr="0">
            <a:noAutofit/>
          </a:bodyPr>
          <a:lstStyle/>
          <a:p>
            <a:pPr>
              <a:buFont typeface="Arial" panose="020B0604020202020204" pitchFamily="34" charset="0"/>
              <a:buChar char="•"/>
            </a:pPr>
            <a:r>
              <a:rPr lang="en-US" dirty="0"/>
              <a:t>A control store with highly similar customer and sales characteristics to the trial store was successfully identified.</a:t>
            </a:r>
          </a:p>
          <a:p>
            <a:pPr>
              <a:buFont typeface="Arial" panose="020B0604020202020204" pitchFamily="34" charset="0"/>
              <a:buChar char="•"/>
            </a:pPr>
            <a:r>
              <a:rPr lang="en-US" dirty="0"/>
              <a:t>During the trial period, the trial store outperformed its control store across key metrics, including total sales, customer count, and average spend.</a:t>
            </a:r>
          </a:p>
          <a:p>
            <a:pPr>
              <a:buFont typeface="Arial" panose="020B0604020202020204" pitchFamily="34" charset="0"/>
              <a:buChar char="•"/>
            </a:pPr>
            <a:r>
              <a:rPr lang="en-US" dirty="0"/>
              <a:t>The uplift observed in the trial store indicates that the implemented strategy had a positive commercial impact.</a:t>
            </a:r>
          </a:p>
          <a:p>
            <a:pPr>
              <a:buFont typeface="Arial" panose="020B0604020202020204" pitchFamily="34" charset="0"/>
              <a:buChar char="•"/>
            </a:pPr>
            <a:r>
              <a:rPr lang="en-US" dirty="0"/>
              <a:t>Results support scaling the trial initiative across additional stores with similar customer profiles.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0"/>
          <p:cNvSpPr txBox="1">
            <a:spLocks noGrp="1"/>
          </p:cNvSpPr>
          <p:nvPr>
            <p:ph type="title"/>
          </p:nvPr>
        </p:nvSpPr>
        <p:spPr>
          <a:xfrm>
            <a:off x="1162050" y="400050"/>
            <a:ext cx="2305050" cy="97155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5"/>
              </a:buClr>
              <a:buSzPts val="8300"/>
              <a:buFont typeface="Roboto Light"/>
              <a:buNone/>
            </a:pPr>
            <a:r>
              <a:rPr lang="en-AU" dirty="0"/>
              <a:t>01</a:t>
            </a:r>
            <a:endParaRPr dirty="0"/>
          </a:p>
        </p:txBody>
      </p:sp>
      <p:sp>
        <p:nvSpPr>
          <p:cNvPr id="97" name="Google Shape;97;p10"/>
          <p:cNvSpPr txBox="1">
            <a:spLocks noGrp="1"/>
          </p:cNvSpPr>
          <p:nvPr>
            <p:ph type="body" idx="1"/>
          </p:nvPr>
        </p:nvSpPr>
        <p:spPr>
          <a:xfrm>
            <a:off x="1083392" y="2719489"/>
            <a:ext cx="10813281" cy="3612486"/>
          </a:xfrm>
          <a:prstGeom prst="rect">
            <a:avLst/>
          </a:prstGeom>
          <a:noFill/>
          <a:ln>
            <a:noFill/>
          </a:ln>
        </p:spPr>
        <p:txBody>
          <a:bodyPr spcFirstLastPara="1" wrap="square" lIns="0" tIns="0" rIns="91425" bIns="45700" anchor="t" anchorCtr="0">
            <a:noAutofit/>
          </a:bodyPr>
          <a:lstStyle/>
          <a:p>
            <a:pPr>
              <a:buNone/>
            </a:pPr>
            <a:r>
              <a:rPr lang="en-US" sz="3200" dirty="0">
                <a:latin typeface="+mn-lt"/>
              </a:rPr>
              <a:t>Category</a:t>
            </a:r>
            <a:endParaRPr dirty="0">
              <a:latin typeface="+mn-lt"/>
            </a:endParaRPr>
          </a:p>
        </p:txBody>
      </p:sp>
      <p:pic>
        <p:nvPicPr>
          <p:cNvPr id="3" name="Picture 2">
            <a:extLst>
              <a:ext uri="{FF2B5EF4-FFF2-40B4-BE49-F238E27FC236}">
                <a16:creationId xmlns:a16="http://schemas.microsoft.com/office/drawing/2014/main" id="{5C1DC562-2995-08B0-53B6-153932A260DF}"/>
              </a:ext>
            </a:extLst>
          </p:cNvPr>
          <p:cNvPicPr>
            <a:picLocks noChangeAspect="1"/>
          </p:cNvPicPr>
          <p:nvPr/>
        </p:nvPicPr>
        <p:blipFill>
          <a:blip r:embed="rId3"/>
          <a:stretch>
            <a:fillRect/>
          </a:stretch>
        </p:blipFill>
        <p:spPr>
          <a:xfrm>
            <a:off x="6912076" y="-1"/>
            <a:ext cx="5279923" cy="68580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1"/>
          <p:cNvSpPr txBox="1">
            <a:spLocks noGrp="1"/>
          </p:cNvSpPr>
          <p:nvPr>
            <p:ph type="body" idx="1"/>
          </p:nvPr>
        </p:nvSpPr>
        <p:spPr>
          <a:xfrm>
            <a:off x="1157646" y="178612"/>
            <a:ext cx="10479600" cy="1257442"/>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US" dirty="0"/>
              <a:t>Overall chips transactions remain stable throughout the year, with a sharp dip during the Christmas week due to public holiday store closures, followed by a quick return to normal trading levels.</a:t>
            </a:r>
            <a:endParaRPr dirty="0"/>
          </a:p>
        </p:txBody>
      </p:sp>
      <p:pic>
        <p:nvPicPr>
          <p:cNvPr id="3" name="Picture 2">
            <a:extLst>
              <a:ext uri="{FF2B5EF4-FFF2-40B4-BE49-F238E27FC236}">
                <a16:creationId xmlns:a16="http://schemas.microsoft.com/office/drawing/2014/main" id="{9B7CC347-4401-A44F-2BFF-667E325E9228}"/>
              </a:ext>
            </a:extLst>
          </p:cNvPr>
          <p:cNvPicPr>
            <a:picLocks noChangeAspect="1"/>
          </p:cNvPicPr>
          <p:nvPr/>
        </p:nvPicPr>
        <p:blipFill>
          <a:blip r:embed="rId3"/>
          <a:stretch>
            <a:fillRect/>
          </a:stretch>
        </p:blipFill>
        <p:spPr>
          <a:xfrm>
            <a:off x="737420" y="1436054"/>
            <a:ext cx="11454580" cy="46796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2"/>
          <p:cNvSpPr txBox="1">
            <a:spLocks noGrp="1"/>
          </p:cNvSpPr>
          <p:nvPr>
            <p:ph type="body" idx="1"/>
          </p:nvPr>
        </p:nvSpPr>
        <p:spPr>
          <a:xfrm>
            <a:off x="884903" y="168234"/>
            <a:ext cx="11169445" cy="1457071"/>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US" sz="2000" dirty="0"/>
              <a:t>Life stage is the key driver of chips purchasing, with Older Families and Young Families buying the highest units per transaction. Affluence has only a minor impact, as Budget, Mainstream, and Premium shoppers behave similarly within each segment. Overall, family segments present the strongest opportunity due to consistently larger basket sizes.</a:t>
            </a:r>
            <a:endParaRPr sz="2000" dirty="0"/>
          </a:p>
        </p:txBody>
      </p:sp>
      <p:pic>
        <p:nvPicPr>
          <p:cNvPr id="3" name="Picture 2">
            <a:extLst>
              <a:ext uri="{FF2B5EF4-FFF2-40B4-BE49-F238E27FC236}">
                <a16:creationId xmlns:a16="http://schemas.microsoft.com/office/drawing/2014/main" id="{429C9B52-DB1B-2D75-2253-629EC1CBBC45}"/>
              </a:ext>
            </a:extLst>
          </p:cNvPr>
          <p:cNvPicPr>
            <a:picLocks noChangeAspect="1"/>
          </p:cNvPicPr>
          <p:nvPr/>
        </p:nvPicPr>
        <p:blipFill>
          <a:blip r:embed="rId3"/>
          <a:stretch>
            <a:fillRect/>
          </a:stretch>
        </p:blipFill>
        <p:spPr>
          <a:xfrm>
            <a:off x="757084" y="1376723"/>
            <a:ext cx="11434916" cy="48175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3"/>
          <p:cNvSpPr txBox="1">
            <a:spLocks noGrp="1"/>
          </p:cNvSpPr>
          <p:nvPr>
            <p:ph type="body" idx="1"/>
          </p:nvPr>
        </p:nvSpPr>
        <p:spPr>
          <a:xfrm>
            <a:off x="851911" y="159039"/>
            <a:ext cx="11235432" cy="1570240"/>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US" sz="2000" dirty="0"/>
              <a:t>Mainstream customers make up the largest share of shoppers across nearly all life-stage groups, especially among Young Singles &amp; Couples and Retirees. Premium customers are more concentrated within Singles &amp; Couples segments, while Budget shoppers are more prominent in family segments. Overall, customer mix varies more by life stage than by affluence, reinforcing life stage as the primary lens for category targeting.</a:t>
            </a:r>
            <a:endParaRPr sz="2000" dirty="0"/>
          </a:p>
        </p:txBody>
      </p:sp>
      <p:pic>
        <p:nvPicPr>
          <p:cNvPr id="3" name="Picture 2">
            <a:extLst>
              <a:ext uri="{FF2B5EF4-FFF2-40B4-BE49-F238E27FC236}">
                <a16:creationId xmlns:a16="http://schemas.microsoft.com/office/drawing/2014/main" id="{A03E933D-730E-1001-1390-ECD8F5074CA5}"/>
              </a:ext>
            </a:extLst>
          </p:cNvPr>
          <p:cNvPicPr>
            <a:picLocks noChangeAspect="1"/>
          </p:cNvPicPr>
          <p:nvPr/>
        </p:nvPicPr>
        <p:blipFill>
          <a:blip r:embed="rId3"/>
          <a:stretch>
            <a:fillRect/>
          </a:stretch>
        </p:blipFill>
        <p:spPr>
          <a:xfrm>
            <a:off x="747253" y="1729279"/>
            <a:ext cx="11444748" cy="44748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4"/>
          <p:cNvSpPr txBox="1">
            <a:spLocks noGrp="1"/>
          </p:cNvSpPr>
          <p:nvPr>
            <p:ph type="title"/>
          </p:nvPr>
        </p:nvSpPr>
        <p:spPr>
          <a:xfrm>
            <a:off x="1162050" y="400050"/>
            <a:ext cx="2305050" cy="97155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5"/>
              </a:buClr>
              <a:buSzPts val="8300"/>
              <a:buFont typeface="Roboto Light"/>
              <a:buNone/>
            </a:pPr>
            <a:r>
              <a:rPr lang="en-AU"/>
              <a:t>02</a:t>
            </a:r>
            <a:endParaRPr/>
          </a:p>
        </p:txBody>
      </p:sp>
      <p:sp>
        <p:nvSpPr>
          <p:cNvPr id="126" name="Google Shape;126;p14"/>
          <p:cNvSpPr txBox="1">
            <a:spLocks noGrp="1"/>
          </p:cNvSpPr>
          <p:nvPr>
            <p:ph type="body" idx="1"/>
          </p:nvPr>
        </p:nvSpPr>
        <p:spPr>
          <a:xfrm>
            <a:off x="1201738" y="3122612"/>
            <a:ext cx="5516562" cy="2516187"/>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AU" dirty="0"/>
              <a:t>Trial store performance</a:t>
            </a:r>
            <a:endParaRPr dirty="0"/>
          </a:p>
        </p:txBody>
      </p:sp>
      <p:pic>
        <p:nvPicPr>
          <p:cNvPr id="3" name="Picture 2">
            <a:extLst>
              <a:ext uri="{FF2B5EF4-FFF2-40B4-BE49-F238E27FC236}">
                <a16:creationId xmlns:a16="http://schemas.microsoft.com/office/drawing/2014/main" id="{60320DDF-61E6-FA7D-0D5A-425982DA952E}"/>
              </a:ext>
            </a:extLst>
          </p:cNvPr>
          <p:cNvPicPr>
            <a:picLocks noChangeAspect="1"/>
          </p:cNvPicPr>
          <p:nvPr/>
        </p:nvPicPr>
        <p:blipFill>
          <a:blip r:embed="rId3"/>
          <a:stretch>
            <a:fillRect/>
          </a:stretch>
        </p:blipFill>
        <p:spPr>
          <a:xfrm rot="16200000">
            <a:off x="6162367" y="828367"/>
            <a:ext cx="6858000" cy="52012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5"/>
          <p:cNvSpPr txBox="1">
            <a:spLocks noGrp="1"/>
          </p:cNvSpPr>
          <p:nvPr>
            <p:ph type="body" idx="1"/>
          </p:nvPr>
        </p:nvSpPr>
        <p:spPr>
          <a:xfrm>
            <a:off x="816077" y="109242"/>
            <a:ext cx="11228439" cy="1631068"/>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US" sz="2000" dirty="0"/>
              <a:t>The selected control store closely mirrors the trial store’s sales patterns over time, confirming it as a valid benchmark for comparison. Both the trial and control stores follow the same seasonal trends, with a dip around October–January similar to the broader store network. This alignment ensures that any uplift observed during the trial can be confidently attributed to the trial intervention rather than external market factors.</a:t>
            </a:r>
            <a:endParaRPr lang="en-AU" sz="2000" dirty="0"/>
          </a:p>
        </p:txBody>
      </p:sp>
      <p:pic>
        <p:nvPicPr>
          <p:cNvPr id="3" name="Picture 2">
            <a:extLst>
              <a:ext uri="{FF2B5EF4-FFF2-40B4-BE49-F238E27FC236}">
                <a16:creationId xmlns:a16="http://schemas.microsoft.com/office/drawing/2014/main" id="{193D3093-EBD4-D0C6-D6C4-ED293588DF20}"/>
              </a:ext>
            </a:extLst>
          </p:cNvPr>
          <p:cNvPicPr>
            <a:picLocks noChangeAspect="1"/>
          </p:cNvPicPr>
          <p:nvPr/>
        </p:nvPicPr>
        <p:blipFill>
          <a:blip r:embed="rId3"/>
          <a:stretch>
            <a:fillRect/>
          </a:stretch>
        </p:blipFill>
        <p:spPr>
          <a:xfrm>
            <a:off x="747251" y="1740310"/>
            <a:ext cx="11444749" cy="44441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6"/>
          <p:cNvSpPr txBox="1">
            <a:spLocks noGrp="1"/>
          </p:cNvSpPr>
          <p:nvPr>
            <p:ph type="body" idx="1"/>
          </p:nvPr>
        </p:nvSpPr>
        <p:spPr>
          <a:xfrm>
            <a:off x="856200" y="89989"/>
            <a:ext cx="11247310" cy="1247198"/>
          </a:xfrm>
          <a:prstGeom prst="rect">
            <a:avLst/>
          </a:prstGeom>
          <a:noFill/>
          <a:ln>
            <a:noFill/>
          </a:ln>
        </p:spPr>
        <p:txBody>
          <a:bodyPr spcFirstLastPara="1" wrap="square" lIns="0" tIns="0" rIns="91425" bIns="45700" anchor="t" anchorCtr="0">
            <a:noAutofit/>
          </a:bodyPr>
          <a:lstStyle/>
          <a:p>
            <a:pPr marL="0" lvl="0" indent="0" algn="l" rtl="0">
              <a:lnSpc>
                <a:spcPct val="100000"/>
              </a:lnSpc>
              <a:spcBef>
                <a:spcPts val="0"/>
              </a:spcBef>
              <a:spcAft>
                <a:spcPts val="0"/>
              </a:spcAft>
              <a:buClr>
                <a:srgbClr val="000005"/>
              </a:buClr>
              <a:buSzPts val="2400"/>
              <a:buNone/>
            </a:pPr>
            <a:r>
              <a:rPr lang="en-US" sz="2000" dirty="0"/>
              <a:t>During the trial period (Feb–May), the trial store’s customer numbers rose noticeably above the control store and its confidence intervals. This uplift is consistent and sustained across the entire trial window, peaking sharply in May. The clear separation from the control trend indicates that the trial intervention successfully increased customer traffic.</a:t>
            </a:r>
            <a:endParaRPr sz="2000" dirty="0"/>
          </a:p>
        </p:txBody>
      </p:sp>
      <p:pic>
        <p:nvPicPr>
          <p:cNvPr id="3" name="Picture 2">
            <a:extLst>
              <a:ext uri="{FF2B5EF4-FFF2-40B4-BE49-F238E27FC236}">
                <a16:creationId xmlns:a16="http://schemas.microsoft.com/office/drawing/2014/main" id="{C2C03305-1BB5-2E4A-6F3F-47AD3A470AC0}"/>
              </a:ext>
            </a:extLst>
          </p:cNvPr>
          <p:cNvPicPr>
            <a:picLocks noChangeAspect="1"/>
          </p:cNvPicPr>
          <p:nvPr/>
        </p:nvPicPr>
        <p:blipFill>
          <a:blip r:embed="rId3"/>
          <a:stretch>
            <a:fillRect/>
          </a:stretch>
        </p:blipFill>
        <p:spPr>
          <a:xfrm>
            <a:off x="737419" y="1315064"/>
            <a:ext cx="11454581" cy="48006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721</Words>
  <Application>Microsoft Office PowerPoint</Application>
  <PresentationFormat>Widescreen</PresentationFormat>
  <Paragraphs>40</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Roboto Medium</vt:lpstr>
      <vt:lpstr>Roboto</vt:lpstr>
      <vt:lpstr>Roboto Light</vt:lpstr>
      <vt:lpstr>Calibri</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Mahyar</dc:creator>
  <cp:lastModifiedBy>mahyar hagialmohammadlou</cp:lastModifiedBy>
  <cp:revision>4</cp:revision>
  <dcterms:modified xsi:type="dcterms:W3CDTF">2025-11-27T07:43:57Z</dcterms:modified>
</cp:coreProperties>
</file>